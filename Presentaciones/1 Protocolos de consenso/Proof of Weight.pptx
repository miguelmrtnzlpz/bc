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ource Sans 3 Bold" charset="1" panose="020B0303030403020204"/>
      <p:regular r:id="rId17"/>
    </p:embeddedFont>
    <p:embeddedFont>
      <p:font typeface="Source Sans 3" charset="1" panose="020B0303030403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01500" y="0"/>
            <a:ext cx="6286500" cy="10287000"/>
            <a:chOff x="0" y="0"/>
            <a:chExt cx="8382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8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38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68750" y="0"/>
            <a:ext cx="1619250" cy="10287000"/>
            <a:chOff x="0" y="0"/>
            <a:chExt cx="2159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5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1390650"/>
            <a:ext cx="7810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PROTOCOLO DE CONSENSO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1790700"/>
            <a:ext cx="9906000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Protocolo de Consenso:</a:t>
            </a:r>
          </a:p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Proof of Weight (PoWeight)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4252595"/>
            <a:ext cx="962025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Tecnologías de Registro Distribuido y Blockchain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Tarea Colaborativa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47750" y="5595620"/>
            <a:ext cx="1428750" cy="66675"/>
            <a:chOff x="0" y="0"/>
            <a:chExt cx="1905000" cy="88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00" cy="88900"/>
            </a:xfrm>
            <a:custGeom>
              <a:avLst/>
              <a:gdLst/>
              <a:ahLst/>
              <a:cxnLst/>
              <a:rect r="r" b="b" t="t" l="l"/>
              <a:pathLst>
                <a:path h="88900" w="1905000">
                  <a:moveTo>
                    <a:pt x="44450" y="0"/>
                  </a:moveTo>
                  <a:lnTo>
                    <a:pt x="1860550" y="0"/>
                  </a:lnTo>
                  <a:cubicBezTo>
                    <a:pt x="1885099" y="0"/>
                    <a:pt x="1905000" y="19901"/>
                    <a:pt x="1905000" y="44450"/>
                  </a:cubicBezTo>
                  <a:lnTo>
                    <a:pt x="1905000" y="44450"/>
                  </a:lnTo>
                  <a:cubicBezTo>
                    <a:pt x="1905000" y="68999"/>
                    <a:pt x="1885099" y="88900"/>
                    <a:pt x="1860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7750" y="6286500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AUTORES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750" y="6572250"/>
            <a:ext cx="9048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Moisés Arribí Lamas · Miguel Martínez López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7277100"/>
            <a:ext cx="6191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19 de octubre de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Índice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2238375"/>
            <a:ext cx="16192500" cy="590550"/>
            <a:chOff x="0" y="0"/>
            <a:chExt cx="21590000" cy="78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7750" y="2238375"/>
            <a:ext cx="85725" cy="590550"/>
            <a:chOff x="0" y="0"/>
            <a:chExt cx="114300" cy="78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28750" y="236220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81250" y="234315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Definición y Características Generales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47750" y="3019425"/>
            <a:ext cx="16192500" cy="590550"/>
            <a:chOff x="0" y="0"/>
            <a:chExt cx="21590000" cy="787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750" y="3019425"/>
            <a:ext cx="85725" cy="590550"/>
            <a:chOff x="0" y="0"/>
            <a:chExt cx="114300" cy="787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28750" y="314325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81250" y="312420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Mecanismo de Funcionamiento y VRF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7750" y="3800475"/>
            <a:ext cx="16192500" cy="590550"/>
            <a:chOff x="0" y="0"/>
            <a:chExt cx="21590000" cy="7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7750" y="3800475"/>
            <a:ext cx="85725" cy="590550"/>
            <a:chOff x="0" y="0"/>
            <a:chExt cx="114300" cy="787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28750" y="392430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1250" y="390525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Ventajas e Inconvenientes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7750" y="4581525"/>
            <a:ext cx="16192500" cy="590550"/>
            <a:chOff x="0" y="0"/>
            <a:chExt cx="21590000" cy="787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7750" y="4581525"/>
            <a:ext cx="85725" cy="590550"/>
            <a:chOff x="0" y="0"/>
            <a:chExt cx="114300" cy="787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28750" y="470535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81250" y="468630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Seguridad y Principales Ataques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7750" y="5362575"/>
            <a:ext cx="16192500" cy="590550"/>
            <a:chOff x="0" y="0"/>
            <a:chExt cx="21590000" cy="787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7750" y="5362575"/>
            <a:ext cx="85725" cy="590550"/>
            <a:chOff x="0" y="0"/>
            <a:chExt cx="114300" cy="787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28750" y="548640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81250" y="546735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Casos de Uso en Tecnologías DLT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47750" y="6143625"/>
            <a:ext cx="16192500" cy="590550"/>
            <a:chOff x="0" y="0"/>
            <a:chExt cx="21590000" cy="787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47750" y="6143625"/>
            <a:ext cx="85725" cy="590550"/>
            <a:chOff x="0" y="0"/>
            <a:chExt cx="114300" cy="787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28750" y="626745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81250" y="624840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Simulación experimental y resultados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47750" y="6924675"/>
            <a:ext cx="16192500" cy="590550"/>
            <a:chOff x="0" y="0"/>
            <a:chExt cx="21590000" cy="787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7750" y="6924675"/>
            <a:ext cx="85725" cy="590550"/>
            <a:chOff x="0" y="0"/>
            <a:chExt cx="114300" cy="787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428750" y="704850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381250" y="702945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Resultados de la Simulación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47750" y="7705725"/>
            <a:ext cx="16192500" cy="590550"/>
            <a:chOff x="0" y="0"/>
            <a:chExt cx="21590000" cy="787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7750" y="7705725"/>
            <a:ext cx="85725" cy="590550"/>
            <a:chOff x="0" y="0"/>
            <a:chExt cx="114300" cy="787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28750" y="782955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381250" y="7810500"/>
            <a:ext cx="13811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Conclusiones y Aplicaciones Futuras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02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047750" y="8486775"/>
            <a:ext cx="16192500" cy="590550"/>
            <a:chOff x="0" y="0"/>
            <a:chExt cx="21590000" cy="787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5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1590000">
                  <a:moveTo>
                    <a:pt x="127000" y="0"/>
                  </a:moveTo>
                  <a:lnTo>
                    <a:pt x="21463000" y="0"/>
                  </a:lnTo>
                  <a:cubicBezTo>
                    <a:pt x="21533140" y="0"/>
                    <a:pt x="21590000" y="56860"/>
                    <a:pt x="21590000" y="127000"/>
                  </a:cubicBezTo>
                  <a:lnTo>
                    <a:pt x="21590000" y="660400"/>
                  </a:lnTo>
                  <a:cubicBezTo>
                    <a:pt x="21590000" y="730540"/>
                    <a:pt x="21533140" y="787400"/>
                    <a:pt x="21463000" y="787400"/>
                  </a:cubicBezTo>
                  <a:lnTo>
                    <a:pt x="127000" y="787400"/>
                  </a:lnTo>
                  <a:cubicBezTo>
                    <a:pt x="56860" y="787400"/>
                    <a:pt x="0" y="730540"/>
                    <a:pt x="0" y="660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47750" y="8486775"/>
            <a:ext cx="85725" cy="590550"/>
            <a:chOff x="0" y="0"/>
            <a:chExt cx="114300" cy="787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4300" cy="787400"/>
            </a:xfrm>
            <a:custGeom>
              <a:avLst/>
              <a:gdLst/>
              <a:ahLst/>
              <a:cxnLst/>
              <a:rect r="r" b="b" t="t" l="l"/>
              <a:pathLst>
                <a:path h="787400" w="114300">
                  <a:moveTo>
                    <a:pt x="50800" y="0"/>
                  </a:moveTo>
                  <a:lnTo>
                    <a:pt x="63500" y="0"/>
                  </a:lnTo>
                  <a:cubicBezTo>
                    <a:pt x="91556" y="0"/>
                    <a:pt x="114300" y="22744"/>
                    <a:pt x="114300" y="50800"/>
                  </a:cubicBezTo>
                  <a:lnTo>
                    <a:pt x="114300" y="736600"/>
                  </a:lnTo>
                  <a:cubicBezTo>
                    <a:pt x="114300" y="764656"/>
                    <a:pt x="91556" y="787400"/>
                    <a:pt x="635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143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428750" y="8610600"/>
            <a:ext cx="666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381250" y="8591550"/>
            <a:ext cx="1381125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Preguntas y debate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FUNDAMENTOS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1. Definición y Características Generales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333625"/>
            <a:ext cx="8858250" cy="5810250"/>
            <a:chOff x="0" y="0"/>
            <a:chExt cx="11811000" cy="774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1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11811000">
                  <a:moveTo>
                    <a:pt x="228600" y="0"/>
                  </a:moveTo>
                  <a:lnTo>
                    <a:pt x="11582400" y="0"/>
                  </a:lnTo>
                  <a:cubicBezTo>
                    <a:pt x="11708652" y="0"/>
                    <a:pt x="11811000" y="102348"/>
                    <a:pt x="11811000" y="228600"/>
                  </a:cubicBezTo>
                  <a:lnTo>
                    <a:pt x="11811000" y="7518400"/>
                  </a:lnTo>
                  <a:cubicBezTo>
                    <a:pt x="11811000" y="7644652"/>
                    <a:pt x="11708652" y="7747000"/>
                    <a:pt x="11582400" y="7747000"/>
                  </a:cubicBezTo>
                  <a:lnTo>
                    <a:pt x="228600" y="7747000"/>
                  </a:lnTo>
                  <a:cubicBezTo>
                    <a:pt x="102348" y="7747000"/>
                    <a:pt x="0" y="7644652"/>
                    <a:pt x="0" y="7518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811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375" y="2647950"/>
            <a:ext cx="7620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¿Qué es PoWeight?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6375" y="3219450"/>
            <a:ext cx="752475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Es un modelo de consenso donde la influencia de cada participante depende de un “peso” multifactorial.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6375" y="4895850"/>
            <a:ext cx="752475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peso combina tokens, antigüedad, almacenamiento y actividad para distribuir el derecho de participación.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76375" y="6664960"/>
            <a:ext cx="7524750" cy="1238250"/>
            <a:chOff x="0" y="0"/>
            <a:chExt cx="10033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3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033000">
                  <a:moveTo>
                    <a:pt x="177800" y="0"/>
                  </a:moveTo>
                  <a:lnTo>
                    <a:pt x="9855200" y="0"/>
                  </a:lnTo>
                  <a:cubicBezTo>
                    <a:pt x="9953396" y="0"/>
                    <a:pt x="10033000" y="79604"/>
                    <a:pt x="10033000" y="177800"/>
                  </a:cubicBezTo>
                  <a:lnTo>
                    <a:pt x="10033000" y="1473200"/>
                  </a:lnTo>
                  <a:cubicBezTo>
                    <a:pt x="10033000" y="1571396"/>
                    <a:pt x="9953396" y="1651000"/>
                    <a:pt x="9855200" y="1651000"/>
                  </a:cubicBezTo>
                  <a:lnTo>
                    <a:pt x="177800" y="1651000"/>
                  </a:lnTo>
                  <a:cubicBezTo>
                    <a:pt x="79604" y="1651000"/>
                    <a:pt x="0" y="1571396"/>
                    <a:pt x="0" y="1473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033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62125" y="6703060"/>
            <a:ext cx="17145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Objetivo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2125" y="6925310"/>
            <a:ext cx="666750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Mitigar la plutocracia de PoS sin recurrir a minería intensiva.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34750" y="2571750"/>
            <a:ext cx="2571750" cy="1619250"/>
            <a:chOff x="0" y="0"/>
            <a:chExt cx="3429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203200" y="0"/>
                  </a:moveTo>
                  <a:lnTo>
                    <a:pt x="3225800" y="0"/>
                  </a:lnTo>
                  <a:cubicBezTo>
                    <a:pt x="3338024" y="0"/>
                    <a:pt x="3429000" y="90976"/>
                    <a:pt x="3429000" y="203200"/>
                  </a:cubicBezTo>
                  <a:lnTo>
                    <a:pt x="3429000" y="1955800"/>
                  </a:lnTo>
                  <a:cubicBezTo>
                    <a:pt x="3429000" y="2068024"/>
                    <a:pt x="3338024" y="2159000"/>
                    <a:pt x="3225800" y="2159000"/>
                  </a:cubicBezTo>
                  <a:lnTo>
                    <a:pt x="203200" y="2159000"/>
                  </a:lnTo>
                  <a:cubicBezTo>
                    <a:pt x="90976" y="2159000"/>
                    <a:pt x="0" y="2068024"/>
                    <a:pt x="0" y="1955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572875" y="2847975"/>
            <a:ext cx="20955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TOKENS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72875" y="3276600"/>
            <a:ext cx="209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Participación económica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87500" y="2571750"/>
            <a:ext cx="2571750" cy="1619250"/>
            <a:chOff x="0" y="0"/>
            <a:chExt cx="3429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203200" y="0"/>
                  </a:moveTo>
                  <a:lnTo>
                    <a:pt x="3225800" y="0"/>
                  </a:lnTo>
                  <a:cubicBezTo>
                    <a:pt x="3338024" y="0"/>
                    <a:pt x="3429000" y="90976"/>
                    <a:pt x="3429000" y="203200"/>
                  </a:cubicBezTo>
                  <a:lnTo>
                    <a:pt x="3429000" y="1955800"/>
                  </a:lnTo>
                  <a:cubicBezTo>
                    <a:pt x="3429000" y="2068024"/>
                    <a:pt x="3338024" y="2159000"/>
                    <a:pt x="3225800" y="2159000"/>
                  </a:cubicBezTo>
                  <a:lnTo>
                    <a:pt x="203200" y="2159000"/>
                  </a:lnTo>
                  <a:cubicBezTo>
                    <a:pt x="90976" y="2159000"/>
                    <a:pt x="0" y="2068024"/>
                    <a:pt x="0" y="1955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525625" y="2847975"/>
            <a:ext cx="20955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ANTIGÜEDAD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25625" y="3276600"/>
            <a:ext cx="209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Continuidad y confianza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334750" y="4667250"/>
            <a:ext cx="2571750" cy="1619250"/>
            <a:chOff x="0" y="0"/>
            <a:chExt cx="3429000" cy="2159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203200" y="0"/>
                  </a:moveTo>
                  <a:lnTo>
                    <a:pt x="3225800" y="0"/>
                  </a:lnTo>
                  <a:cubicBezTo>
                    <a:pt x="3338024" y="0"/>
                    <a:pt x="3429000" y="90976"/>
                    <a:pt x="3429000" y="203200"/>
                  </a:cubicBezTo>
                  <a:lnTo>
                    <a:pt x="3429000" y="1955800"/>
                  </a:lnTo>
                  <a:cubicBezTo>
                    <a:pt x="3429000" y="2068024"/>
                    <a:pt x="3338024" y="2159000"/>
                    <a:pt x="3225800" y="2159000"/>
                  </a:cubicBezTo>
                  <a:lnTo>
                    <a:pt x="203200" y="2159000"/>
                  </a:lnTo>
                  <a:cubicBezTo>
                    <a:pt x="90976" y="2159000"/>
                    <a:pt x="0" y="2068024"/>
                    <a:pt x="0" y="1955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572875" y="4943475"/>
            <a:ext cx="20955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ALMACENAMIENTO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72875" y="5372100"/>
            <a:ext cx="209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Recurso útil verificable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287500" y="4667250"/>
            <a:ext cx="2571750" cy="1619250"/>
            <a:chOff x="0" y="0"/>
            <a:chExt cx="3429000" cy="2159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203200" y="0"/>
                  </a:moveTo>
                  <a:lnTo>
                    <a:pt x="3225800" y="0"/>
                  </a:lnTo>
                  <a:cubicBezTo>
                    <a:pt x="3338024" y="0"/>
                    <a:pt x="3429000" y="90976"/>
                    <a:pt x="3429000" y="203200"/>
                  </a:cubicBezTo>
                  <a:lnTo>
                    <a:pt x="3429000" y="1955800"/>
                  </a:lnTo>
                  <a:cubicBezTo>
                    <a:pt x="3429000" y="2068024"/>
                    <a:pt x="3338024" y="2159000"/>
                    <a:pt x="3225800" y="2159000"/>
                  </a:cubicBezTo>
                  <a:lnTo>
                    <a:pt x="203200" y="2159000"/>
                  </a:lnTo>
                  <a:cubicBezTo>
                    <a:pt x="90976" y="2159000"/>
                    <a:pt x="0" y="2068024"/>
                    <a:pt x="0" y="1955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42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525625" y="4943475"/>
            <a:ext cx="20955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ACTIVIDAD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25625" y="5372100"/>
            <a:ext cx="209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Contribución sostenida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MECANISMO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47725"/>
            <a:ext cx="161925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2. Mecanismo de Funcionamiento y VRF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14500"/>
            <a:ext cx="1428750" cy="66675"/>
            <a:chOff x="0" y="0"/>
            <a:chExt cx="1905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0" cy="88900"/>
            </a:xfrm>
            <a:custGeom>
              <a:avLst/>
              <a:gdLst/>
              <a:ahLst/>
              <a:cxnLst/>
              <a:rect r="r" b="b" t="t" l="l"/>
              <a:pathLst>
                <a:path h="88900" w="1905000">
                  <a:moveTo>
                    <a:pt x="44450" y="0"/>
                  </a:moveTo>
                  <a:lnTo>
                    <a:pt x="1860550" y="0"/>
                  </a:lnTo>
                  <a:cubicBezTo>
                    <a:pt x="1885099" y="0"/>
                    <a:pt x="1905000" y="19901"/>
                    <a:pt x="1905000" y="44450"/>
                  </a:cubicBezTo>
                  <a:lnTo>
                    <a:pt x="1905000" y="44450"/>
                  </a:lnTo>
                  <a:cubicBezTo>
                    <a:pt x="1905000" y="68999"/>
                    <a:pt x="1885099" y="88900"/>
                    <a:pt x="1860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05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6500"/>
            <a:ext cx="3667125" cy="5334000"/>
            <a:chOff x="0" y="0"/>
            <a:chExt cx="4889500" cy="711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89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4889500">
                  <a:moveTo>
                    <a:pt x="228600" y="0"/>
                  </a:moveTo>
                  <a:lnTo>
                    <a:pt x="4660900" y="0"/>
                  </a:lnTo>
                  <a:cubicBezTo>
                    <a:pt x="4787152" y="0"/>
                    <a:pt x="4889500" y="102348"/>
                    <a:pt x="4889500" y="228600"/>
                  </a:cubicBezTo>
                  <a:lnTo>
                    <a:pt x="4889500" y="6883400"/>
                  </a:lnTo>
                  <a:cubicBezTo>
                    <a:pt x="4889500" y="7009652"/>
                    <a:pt x="4787152" y="7112000"/>
                    <a:pt x="4660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A879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89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2476500"/>
            <a:ext cx="3667125" cy="95250"/>
            <a:chOff x="0" y="0"/>
            <a:chExt cx="4889500" cy="12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89500" cy="127000"/>
            </a:xfrm>
            <a:custGeom>
              <a:avLst/>
              <a:gdLst/>
              <a:ahLst/>
              <a:cxnLst/>
              <a:rect r="r" b="b" t="t" l="l"/>
              <a:pathLst>
                <a:path h="127000" w="4889500">
                  <a:moveTo>
                    <a:pt x="63500" y="0"/>
                  </a:moveTo>
                  <a:lnTo>
                    <a:pt x="4826000" y="0"/>
                  </a:lnTo>
                  <a:cubicBezTo>
                    <a:pt x="4861070" y="0"/>
                    <a:pt x="4889500" y="28430"/>
                    <a:pt x="4889500" y="63500"/>
                  </a:cubicBezTo>
                  <a:lnTo>
                    <a:pt x="4889500" y="63500"/>
                  </a:lnTo>
                  <a:cubicBezTo>
                    <a:pt x="4889500" y="98570"/>
                    <a:pt x="4861070" y="127000"/>
                    <a:pt x="482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895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4450" y="2733675"/>
            <a:ext cx="762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450" y="3371850"/>
            <a:ext cx="31337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Cálculo y Asignación de Pesos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450" y="4257675"/>
            <a:ext cx="3133725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red calcula periódicamente el peso de cada nodo mediante una función multidimensional.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14450" y="5412759"/>
            <a:ext cx="3133725" cy="1000125"/>
            <a:chOff x="0" y="0"/>
            <a:chExt cx="4178300" cy="133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83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068" y="0"/>
                    <a:pt x="4178300" y="68232"/>
                    <a:pt x="4178300" y="152400"/>
                  </a:cubicBezTo>
                  <a:lnTo>
                    <a:pt x="4178300" y="1181100"/>
                  </a:lnTo>
                  <a:cubicBezTo>
                    <a:pt x="4178300" y="1265268"/>
                    <a:pt x="4110068" y="1333500"/>
                    <a:pt x="4025900" y="1333500"/>
                  </a:cubicBezTo>
                  <a:lnTo>
                    <a:pt x="152400" y="1333500"/>
                  </a:lnTo>
                  <a:cubicBezTo>
                    <a:pt x="68232" y="1333500"/>
                    <a:pt x="0" y="1265268"/>
                    <a:pt x="0" y="1181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783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66850" y="5436927"/>
            <a:ext cx="282892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 = f(Tokens, Antigüedad, Almacenamiento, Actividad)</a:t>
            </a:r>
          </a:p>
        </p:txBody>
      </p:sp>
      <p:sp>
        <p:nvSpPr>
          <p:cNvPr name="AutoShape 20" id="20"/>
          <p:cNvSpPr/>
          <p:nvPr/>
        </p:nvSpPr>
        <p:spPr>
          <a:xfrm>
            <a:off x="4762500" y="5191125"/>
            <a:ext cx="190500" cy="0"/>
          </a:xfrm>
          <a:prstGeom prst="line">
            <a:avLst/>
          </a:prstGeom>
          <a:ln cap="flat" w="38100">
            <a:solidFill>
              <a:srgbClr val="169D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5000625" y="2476500"/>
            <a:ext cx="3667125" cy="5334000"/>
            <a:chOff x="0" y="0"/>
            <a:chExt cx="4889500" cy="711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89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4889500">
                  <a:moveTo>
                    <a:pt x="228600" y="0"/>
                  </a:moveTo>
                  <a:lnTo>
                    <a:pt x="4660900" y="0"/>
                  </a:lnTo>
                  <a:cubicBezTo>
                    <a:pt x="4787152" y="0"/>
                    <a:pt x="4889500" y="102348"/>
                    <a:pt x="4889500" y="228600"/>
                  </a:cubicBezTo>
                  <a:lnTo>
                    <a:pt x="4889500" y="6883400"/>
                  </a:lnTo>
                  <a:cubicBezTo>
                    <a:pt x="4889500" y="7009652"/>
                    <a:pt x="4787152" y="7112000"/>
                    <a:pt x="4660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A879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89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00625" y="2476500"/>
            <a:ext cx="3667125" cy="95250"/>
            <a:chOff x="0" y="0"/>
            <a:chExt cx="4889500" cy="12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89500" cy="127000"/>
            </a:xfrm>
            <a:custGeom>
              <a:avLst/>
              <a:gdLst/>
              <a:ahLst/>
              <a:cxnLst/>
              <a:rect r="r" b="b" t="t" l="l"/>
              <a:pathLst>
                <a:path h="127000" w="4889500">
                  <a:moveTo>
                    <a:pt x="63500" y="0"/>
                  </a:moveTo>
                  <a:lnTo>
                    <a:pt x="4826000" y="0"/>
                  </a:lnTo>
                  <a:cubicBezTo>
                    <a:pt x="4861070" y="0"/>
                    <a:pt x="4889500" y="28430"/>
                    <a:pt x="4889500" y="63500"/>
                  </a:cubicBezTo>
                  <a:lnTo>
                    <a:pt x="4889500" y="63500"/>
                  </a:lnTo>
                  <a:cubicBezTo>
                    <a:pt x="4889500" y="98570"/>
                    <a:pt x="4861070" y="127000"/>
                    <a:pt x="482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895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267325" y="2733675"/>
            <a:ext cx="762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67325" y="3371850"/>
            <a:ext cx="31337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Selección Criptográfica (VRF)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67325" y="4267200"/>
            <a:ext cx="3133725" cy="227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298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 utilizan Funciones Pseudoaleatorias Verificables (VRF) para elegir líderes y comités de forma descentralizada y privada.</a:t>
            </a:r>
          </a:p>
          <a:p>
            <a:pPr algn="l">
              <a:lnSpc>
                <a:spcPts val="1817"/>
              </a:lnSpc>
            </a:pPr>
          </a:p>
          <a:p>
            <a:pPr algn="l">
              <a:lnSpc>
                <a:spcPts val="1817"/>
              </a:lnSpc>
            </a:pPr>
            <a:r>
              <a:rPr lang="en-US" sz="1298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mayor peso, mayor probabilidad de selección.</a:t>
            </a:r>
          </a:p>
          <a:p>
            <a:pPr algn="l">
              <a:lnSpc>
                <a:spcPts val="1817"/>
              </a:lnSpc>
            </a:pPr>
          </a:p>
          <a:p>
            <a:pPr algn="l">
              <a:lnSpc>
                <a:spcPts val="1817"/>
              </a:lnSpc>
            </a:pPr>
            <a:r>
              <a:rPr lang="en-US" sz="1298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identidad del proponente permanece oculta hasta revelar su prueba, evitando ataques dirigidos.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715375" y="5191125"/>
            <a:ext cx="190500" cy="0"/>
          </a:xfrm>
          <a:prstGeom prst="line">
            <a:avLst/>
          </a:prstGeom>
          <a:ln cap="flat" w="38100">
            <a:solidFill>
              <a:srgbClr val="169D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8953500" y="2476500"/>
            <a:ext cx="3667125" cy="5334000"/>
            <a:chOff x="0" y="0"/>
            <a:chExt cx="4889500" cy="711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89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4889500">
                  <a:moveTo>
                    <a:pt x="228600" y="0"/>
                  </a:moveTo>
                  <a:lnTo>
                    <a:pt x="4660900" y="0"/>
                  </a:lnTo>
                  <a:cubicBezTo>
                    <a:pt x="4787152" y="0"/>
                    <a:pt x="4889500" y="102348"/>
                    <a:pt x="4889500" y="228600"/>
                  </a:cubicBezTo>
                  <a:lnTo>
                    <a:pt x="4889500" y="6883400"/>
                  </a:lnTo>
                  <a:cubicBezTo>
                    <a:pt x="4889500" y="7009652"/>
                    <a:pt x="4787152" y="7112000"/>
                    <a:pt x="4660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A8793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889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53500" y="2476500"/>
            <a:ext cx="3667125" cy="95250"/>
            <a:chOff x="0" y="0"/>
            <a:chExt cx="4889500" cy="127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89500" cy="127000"/>
            </a:xfrm>
            <a:custGeom>
              <a:avLst/>
              <a:gdLst/>
              <a:ahLst/>
              <a:cxnLst/>
              <a:rect r="r" b="b" t="t" l="l"/>
              <a:pathLst>
                <a:path h="127000" w="4889500">
                  <a:moveTo>
                    <a:pt x="63500" y="0"/>
                  </a:moveTo>
                  <a:lnTo>
                    <a:pt x="4826000" y="0"/>
                  </a:lnTo>
                  <a:cubicBezTo>
                    <a:pt x="4861070" y="0"/>
                    <a:pt x="4889500" y="28430"/>
                    <a:pt x="4889500" y="63500"/>
                  </a:cubicBezTo>
                  <a:lnTo>
                    <a:pt x="4889500" y="63500"/>
                  </a:lnTo>
                  <a:cubicBezTo>
                    <a:pt x="4889500" y="98570"/>
                    <a:pt x="4861070" y="127000"/>
                    <a:pt x="482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8895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220200" y="2733675"/>
            <a:ext cx="762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20200" y="3371850"/>
            <a:ext cx="31337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Propuesta y Votación Bizantina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20200" y="4257675"/>
            <a:ext cx="3133725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líder propone el nuevo bloque acompañado de su certificado criptográfico VRF.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 comité rotatorio de validadores valida el bloque mediante rondas rápidas de intercambio de mensajes de consenso.</a:t>
            </a:r>
          </a:p>
        </p:txBody>
      </p:sp>
      <p:sp>
        <p:nvSpPr>
          <p:cNvPr name="AutoShape 40" id="40"/>
          <p:cNvSpPr/>
          <p:nvPr/>
        </p:nvSpPr>
        <p:spPr>
          <a:xfrm>
            <a:off x="12668250" y="5191125"/>
            <a:ext cx="190500" cy="0"/>
          </a:xfrm>
          <a:prstGeom prst="line">
            <a:avLst/>
          </a:prstGeom>
          <a:ln cap="flat" w="38100">
            <a:solidFill>
              <a:srgbClr val="169D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0">
            <a:off x="12906375" y="2476500"/>
            <a:ext cx="3667125" cy="5334000"/>
            <a:chOff x="0" y="0"/>
            <a:chExt cx="4889500" cy="711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89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4889500">
                  <a:moveTo>
                    <a:pt x="228600" y="0"/>
                  </a:moveTo>
                  <a:lnTo>
                    <a:pt x="4660900" y="0"/>
                  </a:lnTo>
                  <a:cubicBezTo>
                    <a:pt x="4787152" y="0"/>
                    <a:pt x="4889500" y="102348"/>
                    <a:pt x="4889500" y="228600"/>
                  </a:cubicBezTo>
                  <a:lnTo>
                    <a:pt x="4889500" y="6883400"/>
                  </a:lnTo>
                  <a:cubicBezTo>
                    <a:pt x="4889500" y="7009652"/>
                    <a:pt x="4787152" y="7112000"/>
                    <a:pt x="4660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A8793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889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06375" y="2476500"/>
            <a:ext cx="3667125" cy="95250"/>
            <a:chOff x="0" y="0"/>
            <a:chExt cx="4889500" cy="127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89500" cy="127000"/>
            </a:xfrm>
            <a:custGeom>
              <a:avLst/>
              <a:gdLst/>
              <a:ahLst/>
              <a:cxnLst/>
              <a:rect r="r" b="b" t="t" l="l"/>
              <a:pathLst>
                <a:path h="127000" w="4889500">
                  <a:moveTo>
                    <a:pt x="63500" y="0"/>
                  </a:moveTo>
                  <a:lnTo>
                    <a:pt x="4826000" y="0"/>
                  </a:lnTo>
                  <a:cubicBezTo>
                    <a:pt x="4861070" y="0"/>
                    <a:pt x="4889500" y="28430"/>
                    <a:pt x="4889500" y="63500"/>
                  </a:cubicBezTo>
                  <a:lnTo>
                    <a:pt x="4889500" y="63500"/>
                  </a:lnTo>
                  <a:cubicBezTo>
                    <a:pt x="4889500" y="98570"/>
                    <a:pt x="4861070" y="127000"/>
                    <a:pt x="48260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895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173075" y="2733675"/>
            <a:ext cx="7620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73075" y="3371850"/>
            <a:ext cx="31337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Finalidad Determinista Inmediata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173075" y="4257675"/>
            <a:ext cx="3133725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 alcanzarse el quórum de votos necesario (tolerancia a fallos bizantinos), el bloque se añade de forma irreversible al registro.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 el riesgo de bifurcaciones (forks).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47750" y="8191500"/>
            <a:ext cx="16192500" cy="1143000"/>
            <a:chOff x="0" y="0"/>
            <a:chExt cx="21590000" cy="1524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59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590000">
                  <a:moveTo>
                    <a:pt x="203200" y="0"/>
                  </a:moveTo>
                  <a:lnTo>
                    <a:pt x="21386800" y="0"/>
                  </a:lnTo>
                  <a:cubicBezTo>
                    <a:pt x="21499024" y="0"/>
                    <a:pt x="21590000" y="90976"/>
                    <a:pt x="21590000" y="203200"/>
                  </a:cubicBezTo>
                  <a:lnTo>
                    <a:pt x="21590000" y="1320800"/>
                  </a:lnTo>
                  <a:cubicBezTo>
                    <a:pt x="21590000" y="1433024"/>
                    <a:pt x="21499024" y="1524000"/>
                    <a:pt x="21386800" y="1524000"/>
                  </a:cubicBezTo>
                  <a:lnTo>
                    <a:pt x="203200" y="1524000"/>
                  </a:lnTo>
                  <a:cubicBezTo>
                    <a:pt x="90976" y="1524000"/>
                    <a:pt x="0" y="1433024"/>
                    <a:pt x="0" y="1320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F6F7"/>
            </a:solidFill>
            <a:ln w="19050" cap="sq">
              <a:solidFill>
                <a:srgbClr val="22C7D6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81125" y="8429625"/>
            <a:ext cx="23812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CONCEPTO CLAVE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000500" y="8382000"/>
            <a:ext cx="136207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La VRF garantiza aleatoriedad justa proporcional al peso y seguridad frente a ataques DoS.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EVALUACIÓN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3. Ventajas e Inconvenientes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6500"/>
            <a:ext cx="7572375" cy="5334000"/>
            <a:chOff x="0" y="0"/>
            <a:chExt cx="10096500" cy="711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96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096500">
                  <a:moveTo>
                    <a:pt x="228600" y="0"/>
                  </a:moveTo>
                  <a:lnTo>
                    <a:pt x="9867900" y="0"/>
                  </a:lnTo>
                  <a:cubicBezTo>
                    <a:pt x="9994152" y="0"/>
                    <a:pt x="10096500" y="102348"/>
                    <a:pt x="10096500" y="228600"/>
                  </a:cubicBezTo>
                  <a:lnTo>
                    <a:pt x="10096500" y="6883400"/>
                  </a:lnTo>
                  <a:cubicBezTo>
                    <a:pt x="10096500" y="7009652"/>
                    <a:pt x="9994152" y="7112000"/>
                    <a:pt x="9867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096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67875" y="2476500"/>
            <a:ext cx="7572375" cy="5334000"/>
            <a:chOff x="0" y="0"/>
            <a:chExt cx="10096500" cy="711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965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096500">
                  <a:moveTo>
                    <a:pt x="228600" y="0"/>
                  </a:moveTo>
                  <a:lnTo>
                    <a:pt x="9867900" y="0"/>
                  </a:lnTo>
                  <a:cubicBezTo>
                    <a:pt x="9994152" y="0"/>
                    <a:pt x="10096500" y="102348"/>
                    <a:pt x="10096500" y="228600"/>
                  </a:cubicBezTo>
                  <a:lnTo>
                    <a:pt x="10096500" y="6883400"/>
                  </a:lnTo>
                  <a:cubicBezTo>
                    <a:pt x="10096500" y="7009652"/>
                    <a:pt x="9994152" y="7112000"/>
                    <a:pt x="9867900" y="7112000"/>
                  </a:cubicBezTo>
                  <a:lnTo>
                    <a:pt x="228600" y="7112000"/>
                  </a:lnTo>
                  <a:cubicBezTo>
                    <a:pt x="102348" y="7112000"/>
                    <a:pt x="0" y="7009652"/>
                    <a:pt x="0" y="6883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0965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2476500"/>
            <a:ext cx="7572375" cy="781050"/>
            <a:chOff x="0" y="0"/>
            <a:chExt cx="10096500" cy="1041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965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096500">
                  <a:moveTo>
                    <a:pt x="228600" y="0"/>
                  </a:moveTo>
                  <a:lnTo>
                    <a:pt x="9867900" y="0"/>
                  </a:lnTo>
                  <a:cubicBezTo>
                    <a:pt x="9994152" y="0"/>
                    <a:pt x="10096500" y="102348"/>
                    <a:pt x="10096500" y="228600"/>
                  </a:cubicBezTo>
                  <a:lnTo>
                    <a:pt x="10096500" y="812800"/>
                  </a:lnTo>
                  <a:cubicBezTo>
                    <a:pt x="10096500" y="939052"/>
                    <a:pt x="9994152" y="1041400"/>
                    <a:pt x="9867900" y="1041400"/>
                  </a:cubicBezTo>
                  <a:lnTo>
                    <a:pt x="228600" y="1041400"/>
                  </a:lnTo>
                  <a:cubicBezTo>
                    <a:pt x="102348" y="1041400"/>
                    <a:pt x="0" y="939052"/>
                    <a:pt x="0" y="8128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0965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67875" y="2476500"/>
            <a:ext cx="7572375" cy="781050"/>
            <a:chOff x="0" y="0"/>
            <a:chExt cx="10096500" cy="104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965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096500">
                  <a:moveTo>
                    <a:pt x="228600" y="0"/>
                  </a:moveTo>
                  <a:lnTo>
                    <a:pt x="9867900" y="0"/>
                  </a:lnTo>
                  <a:cubicBezTo>
                    <a:pt x="9994152" y="0"/>
                    <a:pt x="10096500" y="102348"/>
                    <a:pt x="10096500" y="228600"/>
                  </a:cubicBezTo>
                  <a:lnTo>
                    <a:pt x="10096500" y="812800"/>
                  </a:lnTo>
                  <a:cubicBezTo>
                    <a:pt x="10096500" y="939052"/>
                    <a:pt x="9994152" y="1041400"/>
                    <a:pt x="9867900" y="1041400"/>
                  </a:cubicBezTo>
                  <a:lnTo>
                    <a:pt x="228600" y="1041400"/>
                  </a:lnTo>
                  <a:cubicBezTo>
                    <a:pt x="102348" y="1041400"/>
                    <a:pt x="0" y="939052"/>
                    <a:pt x="0" y="8128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DF4F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0965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76375" y="2714625"/>
            <a:ext cx="4762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VENTAJAS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96500" y="2714625"/>
            <a:ext cx="5715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INCONVENIENTES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6375" y="379095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+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95500" y="3838575"/>
            <a:ext cx="590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Sostenibilidad energética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6375" y="483870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+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5500" y="4886325"/>
            <a:ext cx="590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Mayor democratización frente al capital puro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6375" y="588645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+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95500" y="5934075"/>
            <a:ext cx="590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Alta escalabilidad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96500" y="379095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15625" y="3838575"/>
            <a:ext cx="590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Complejidad criptográfica de auditoría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96500" y="483870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15625" y="4886325"/>
            <a:ext cx="5905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Riesgo de sesgo histórico (efecto bola de nieve)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96500" y="5886450"/>
            <a:ext cx="4762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15625" y="5934075"/>
            <a:ext cx="5905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Necesidad de penalizaciones estrictas (slashing)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SEGURIDAD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4. Seguridad y Principales Ataques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71750"/>
            <a:ext cx="7524750" cy="2190750"/>
            <a:chOff x="0" y="0"/>
            <a:chExt cx="10033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3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0033000">
                  <a:moveTo>
                    <a:pt x="203200" y="0"/>
                  </a:moveTo>
                  <a:lnTo>
                    <a:pt x="9829800" y="0"/>
                  </a:lnTo>
                  <a:cubicBezTo>
                    <a:pt x="9942024" y="0"/>
                    <a:pt x="10033000" y="90976"/>
                    <a:pt x="10033000" y="203200"/>
                  </a:cubicBezTo>
                  <a:lnTo>
                    <a:pt x="10033000" y="2717800"/>
                  </a:lnTo>
                  <a:cubicBezTo>
                    <a:pt x="10033000" y="2830024"/>
                    <a:pt x="9942024" y="2921000"/>
                    <a:pt x="9829800" y="2921000"/>
                  </a:cubicBezTo>
                  <a:lnTo>
                    <a:pt x="203200" y="2921000"/>
                  </a:lnTo>
                  <a:cubicBezTo>
                    <a:pt x="90976" y="2921000"/>
                    <a:pt x="0" y="2830024"/>
                    <a:pt x="0" y="271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03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2571750"/>
            <a:ext cx="95250" cy="2190750"/>
            <a:chOff x="0" y="0"/>
            <a:chExt cx="127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27000">
                  <a:moveTo>
                    <a:pt x="50800" y="0"/>
                  </a:moveTo>
                  <a:lnTo>
                    <a:pt x="76200" y="0"/>
                  </a:lnTo>
                  <a:cubicBezTo>
                    <a:pt x="104256" y="0"/>
                    <a:pt x="127000" y="22744"/>
                    <a:pt x="127000" y="50800"/>
                  </a:cubicBezTo>
                  <a:lnTo>
                    <a:pt x="127000" y="2870200"/>
                  </a:lnTo>
                  <a:cubicBezTo>
                    <a:pt x="127000" y="2898256"/>
                    <a:pt x="104256" y="2921000"/>
                    <a:pt x="76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1125" y="2809875"/>
            <a:ext cx="6667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2895600"/>
            <a:ext cx="5715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ATAQUES DE MAYORÍA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6000" y="3467100"/>
            <a:ext cx="566737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&gt;33% puede paralizar la liveness; &gt;51% permite reorganización.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34500" y="2571750"/>
            <a:ext cx="7524750" cy="2190750"/>
            <a:chOff x="0" y="0"/>
            <a:chExt cx="10033000" cy="292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3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0033000">
                  <a:moveTo>
                    <a:pt x="203200" y="0"/>
                  </a:moveTo>
                  <a:lnTo>
                    <a:pt x="9829800" y="0"/>
                  </a:lnTo>
                  <a:cubicBezTo>
                    <a:pt x="9942024" y="0"/>
                    <a:pt x="10033000" y="90976"/>
                    <a:pt x="10033000" y="203200"/>
                  </a:cubicBezTo>
                  <a:lnTo>
                    <a:pt x="10033000" y="2717800"/>
                  </a:lnTo>
                  <a:cubicBezTo>
                    <a:pt x="10033000" y="2830024"/>
                    <a:pt x="9942024" y="2921000"/>
                    <a:pt x="9829800" y="2921000"/>
                  </a:cubicBezTo>
                  <a:lnTo>
                    <a:pt x="203200" y="2921000"/>
                  </a:lnTo>
                  <a:cubicBezTo>
                    <a:pt x="90976" y="2921000"/>
                    <a:pt x="0" y="2830024"/>
                    <a:pt x="0" y="271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03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34500" y="2571750"/>
            <a:ext cx="95250" cy="2190750"/>
            <a:chOff x="0" y="0"/>
            <a:chExt cx="127000" cy="292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27000">
                  <a:moveTo>
                    <a:pt x="50800" y="0"/>
                  </a:moveTo>
                  <a:lnTo>
                    <a:pt x="76200" y="0"/>
                  </a:lnTo>
                  <a:cubicBezTo>
                    <a:pt x="104256" y="0"/>
                    <a:pt x="127000" y="22744"/>
                    <a:pt x="127000" y="50800"/>
                  </a:cubicBezTo>
                  <a:lnTo>
                    <a:pt x="127000" y="2870200"/>
                  </a:lnTo>
                  <a:cubicBezTo>
                    <a:pt x="127000" y="2898256"/>
                    <a:pt x="104256" y="2921000"/>
                    <a:pt x="76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67875" y="2809875"/>
            <a:ext cx="6667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72750" y="2895600"/>
            <a:ext cx="5715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CORRUPCIÓN DE LÍDERES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2750" y="3467100"/>
            <a:ext cx="566737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VRF mitiga el riesgo ocultando las identidades hasta la selección.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7750" y="5334000"/>
            <a:ext cx="7524750" cy="2190750"/>
            <a:chOff x="0" y="0"/>
            <a:chExt cx="10033000" cy="292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3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0033000">
                  <a:moveTo>
                    <a:pt x="203200" y="0"/>
                  </a:moveTo>
                  <a:lnTo>
                    <a:pt x="9829800" y="0"/>
                  </a:lnTo>
                  <a:cubicBezTo>
                    <a:pt x="9942024" y="0"/>
                    <a:pt x="10033000" y="90976"/>
                    <a:pt x="10033000" y="203200"/>
                  </a:cubicBezTo>
                  <a:lnTo>
                    <a:pt x="10033000" y="2717800"/>
                  </a:lnTo>
                  <a:cubicBezTo>
                    <a:pt x="10033000" y="2830024"/>
                    <a:pt x="9942024" y="2921000"/>
                    <a:pt x="9829800" y="2921000"/>
                  </a:cubicBezTo>
                  <a:lnTo>
                    <a:pt x="203200" y="2921000"/>
                  </a:lnTo>
                  <a:cubicBezTo>
                    <a:pt x="90976" y="2921000"/>
                    <a:pt x="0" y="2830024"/>
                    <a:pt x="0" y="271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03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750" y="5334000"/>
            <a:ext cx="95250" cy="2190750"/>
            <a:chOff x="0" y="0"/>
            <a:chExt cx="12700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27000">
                  <a:moveTo>
                    <a:pt x="50800" y="0"/>
                  </a:moveTo>
                  <a:lnTo>
                    <a:pt x="76200" y="0"/>
                  </a:lnTo>
                  <a:cubicBezTo>
                    <a:pt x="104256" y="0"/>
                    <a:pt x="127000" y="22744"/>
                    <a:pt x="127000" y="50800"/>
                  </a:cubicBezTo>
                  <a:lnTo>
                    <a:pt x="127000" y="2870200"/>
                  </a:lnTo>
                  <a:cubicBezTo>
                    <a:pt x="127000" y="2898256"/>
                    <a:pt x="104256" y="2921000"/>
                    <a:pt x="76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81125" y="5572125"/>
            <a:ext cx="6667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6000" y="5657850"/>
            <a:ext cx="5715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MANIPULACIÓN DE PESO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6000" y="6229350"/>
            <a:ext cx="566737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Weight Grinding: alterar entradas para influir en el resultado.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34500" y="5334000"/>
            <a:ext cx="7524750" cy="2190750"/>
            <a:chOff x="0" y="0"/>
            <a:chExt cx="10033000" cy="292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3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0033000">
                  <a:moveTo>
                    <a:pt x="203200" y="0"/>
                  </a:moveTo>
                  <a:lnTo>
                    <a:pt x="9829800" y="0"/>
                  </a:lnTo>
                  <a:cubicBezTo>
                    <a:pt x="9942024" y="0"/>
                    <a:pt x="10033000" y="90976"/>
                    <a:pt x="10033000" y="203200"/>
                  </a:cubicBezTo>
                  <a:lnTo>
                    <a:pt x="10033000" y="2717800"/>
                  </a:lnTo>
                  <a:cubicBezTo>
                    <a:pt x="10033000" y="2830024"/>
                    <a:pt x="9942024" y="2921000"/>
                    <a:pt x="9829800" y="2921000"/>
                  </a:cubicBezTo>
                  <a:lnTo>
                    <a:pt x="203200" y="2921000"/>
                  </a:lnTo>
                  <a:cubicBezTo>
                    <a:pt x="90976" y="2921000"/>
                    <a:pt x="0" y="2830024"/>
                    <a:pt x="0" y="2717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033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34500" y="5334000"/>
            <a:ext cx="95250" cy="2190750"/>
            <a:chOff x="0" y="0"/>
            <a:chExt cx="127000" cy="292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27000">
                  <a:moveTo>
                    <a:pt x="50800" y="0"/>
                  </a:moveTo>
                  <a:lnTo>
                    <a:pt x="76200" y="0"/>
                  </a:lnTo>
                  <a:cubicBezTo>
                    <a:pt x="104256" y="0"/>
                    <a:pt x="127000" y="22744"/>
                    <a:pt x="127000" y="50800"/>
                  </a:cubicBezTo>
                  <a:lnTo>
                    <a:pt x="127000" y="2870200"/>
                  </a:lnTo>
                  <a:cubicBezTo>
                    <a:pt x="127000" y="2898256"/>
                    <a:pt x="104256" y="2921000"/>
                    <a:pt x="76200" y="2921000"/>
                  </a:cubicBezTo>
                  <a:lnTo>
                    <a:pt x="50800" y="2921000"/>
                  </a:lnTo>
                  <a:cubicBezTo>
                    <a:pt x="22744" y="2921000"/>
                    <a:pt x="0" y="2898256"/>
                    <a:pt x="0" y="287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67875" y="5572125"/>
            <a:ext cx="6667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72750" y="5657850"/>
            <a:ext cx="5715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F7F8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INACTIVIDAD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572750" y="6229350"/>
            <a:ext cx="566737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Nothing at Stake: participar en varias ramas sin coste suficiente.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APLICACIONES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5. Casos de Uso en Tecnologías DLT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857500"/>
            <a:ext cx="4762500" cy="4476750"/>
            <a:chOff x="0" y="0"/>
            <a:chExt cx="6350000" cy="596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5740400"/>
                  </a:lnTo>
                  <a:cubicBezTo>
                    <a:pt x="6350000" y="5866652"/>
                    <a:pt x="6247652" y="5969000"/>
                    <a:pt x="6121400" y="5969000"/>
                  </a:cubicBezTo>
                  <a:lnTo>
                    <a:pt x="228600" y="5969000"/>
                  </a:lnTo>
                  <a:cubicBezTo>
                    <a:pt x="102348" y="5969000"/>
                    <a:pt x="0" y="5866652"/>
                    <a:pt x="0" y="574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2857500"/>
            <a:ext cx="4762500" cy="114300"/>
            <a:chOff x="0" y="0"/>
            <a:chExt cx="6350000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350000">
                  <a:moveTo>
                    <a:pt x="63500" y="0"/>
                  </a:moveTo>
                  <a:lnTo>
                    <a:pt x="6286500" y="0"/>
                  </a:lnTo>
                  <a:cubicBezTo>
                    <a:pt x="6321570" y="0"/>
                    <a:pt x="6350000" y="28430"/>
                    <a:pt x="6350000" y="63500"/>
                  </a:cubicBezTo>
                  <a:lnTo>
                    <a:pt x="6350000" y="88900"/>
                  </a:lnTo>
                  <a:cubicBezTo>
                    <a:pt x="6350000" y="123970"/>
                    <a:pt x="6321570" y="152400"/>
                    <a:pt x="6286500" y="152400"/>
                  </a:cubicBezTo>
                  <a:lnTo>
                    <a:pt x="63500" y="152400"/>
                  </a:lnTo>
                  <a:cubicBezTo>
                    <a:pt x="28430" y="152400"/>
                    <a:pt x="0" y="123970"/>
                    <a:pt x="0" y="88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5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1125" y="3257550"/>
            <a:ext cx="7620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125" y="4048125"/>
            <a:ext cx="4000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ALGORAND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1125" y="4810125"/>
            <a:ext cx="40005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PPoS con comités ponderados por balance y VRF.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77000" y="2857500"/>
            <a:ext cx="4762500" cy="4476750"/>
            <a:chOff x="0" y="0"/>
            <a:chExt cx="6350000" cy="596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5740400"/>
                  </a:lnTo>
                  <a:cubicBezTo>
                    <a:pt x="6350000" y="5866652"/>
                    <a:pt x="6247652" y="5969000"/>
                    <a:pt x="6121400" y="5969000"/>
                  </a:cubicBezTo>
                  <a:lnTo>
                    <a:pt x="228600" y="5969000"/>
                  </a:lnTo>
                  <a:cubicBezTo>
                    <a:pt x="102348" y="5969000"/>
                    <a:pt x="0" y="5866652"/>
                    <a:pt x="0" y="574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2857500"/>
            <a:ext cx="4762500" cy="114300"/>
            <a:chOff x="0" y="0"/>
            <a:chExt cx="6350000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350000">
                  <a:moveTo>
                    <a:pt x="63500" y="0"/>
                  </a:moveTo>
                  <a:lnTo>
                    <a:pt x="6286500" y="0"/>
                  </a:lnTo>
                  <a:cubicBezTo>
                    <a:pt x="6321570" y="0"/>
                    <a:pt x="6350000" y="28430"/>
                    <a:pt x="6350000" y="63500"/>
                  </a:cubicBezTo>
                  <a:lnTo>
                    <a:pt x="6350000" y="88900"/>
                  </a:lnTo>
                  <a:cubicBezTo>
                    <a:pt x="6350000" y="123970"/>
                    <a:pt x="6321570" y="152400"/>
                    <a:pt x="6286500" y="152400"/>
                  </a:cubicBezTo>
                  <a:lnTo>
                    <a:pt x="63500" y="152400"/>
                  </a:lnTo>
                  <a:cubicBezTo>
                    <a:pt x="28430" y="152400"/>
                    <a:pt x="0" y="123970"/>
                    <a:pt x="0" y="88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35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10375" y="3257550"/>
            <a:ext cx="7620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10375" y="4048125"/>
            <a:ext cx="4000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FILECOIN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10375" y="4810125"/>
            <a:ext cx="400050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Peso según capacidad de almacenamiento persistente verificado (Storage Power).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APLICACIONES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750" y="2857500"/>
            <a:ext cx="4762500" cy="4476750"/>
            <a:chOff x="0" y="0"/>
            <a:chExt cx="6350000" cy="5969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5740400"/>
                  </a:lnTo>
                  <a:cubicBezTo>
                    <a:pt x="6350000" y="5866652"/>
                    <a:pt x="6247652" y="5969000"/>
                    <a:pt x="6121400" y="5969000"/>
                  </a:cubicBezTo>
                  <a:lnTo>
                    <a:pt x="228600" y="5969000"/>
                  </a:lnTo>
                  <a:cubicBezTo>
                    <a:pt x="102348" y="5969000"/>
                    <a:pt x="0" y="5866652"/>
                    <a:pt x="0" y="574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7750" y="2857500"/>
            <a:ext cx="4762500" cy="114300"/>
            <a:chOff x="0" y="0"/>
            <a:chExt cx="6350000" cy="152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350000">
                  <a:moveTo>
                    <a:pt x="63500" y="0"/>
                  </a:moveTo>
                  <a:lnTo>
                    <a:pt x="6286500" y="0"/>
                  </a:lnTo>
                  <a:cubicBezTo>
                    <a:pt x="6321570" y="0"/>
                    <a:pt x="6350000" y="28430"/>
                    <a:pt x="6350000" y="63500"/>
                  </a:cubicBezTo>
                  <a:lnTo>
                    <a:pt x="6350000" y="88900"/>
                  </a:lnTo>
                  <a:cubicBezTo>
                    <a:pt x="6350000" y="123970"/>
                    <a:pt x="6321570" y="152400"/>
                    <a:pt x="6286500" y="152400"/>
                  </a:cubicBezTo>
                  <a:lnTo>
                    <a:pt x="63500" y="152400"/>
                  </a:lnTo>
                  <a:cubicBezTo>
                    <a:pt x="28430" y="152400"/>
                    <a:pt x="0" y="123970"/>
                    <a:pt x="0" y="88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35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81125" y="3257550"/>
            <a:ext cx="7620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1125" y="4048125"/>
            <a:ext cx="4000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ALGORAND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1125" y="4810125"/>
            <a:ext cx="40005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PPoS con comités ponderados por balance y VRF.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477000" y="2857500"/>
            <a:ext cx="4762500" cy="4476750"/>
            <a:chOff x="0" y="0"/>
            <a:chExt cx="6350000" cy="596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5740400"/>
                  </a:lnTo>
                  <a:cubicBezTo>
                    <a:pt x="6350000" y="5866652"/>
                    <a:pt x="6247652" y="5969000"/>
                    <a:pt x="6121400" y="5969000"/>
                  </a:cubicBezTo>
                  <a:lnTo>
                    <a:pt x="228600" y="5969000"/>
                  </a:lnTo>
                  <a:cubicBezTo>
                    <a:pt x="102348" y="5969000"/>
                    <a:pt x="0" y="5866652"/>
                    <a:pt x="0" y="574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77000" y="2857500"/>
            <a:ext cx="4762500" cy="114300"/>
            <a:chOff x="0" y="0"/>
            <a:chExt cx="6350000" cy="152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350000">
                  <a:moveTo>
                    <a:pt x="63500" y="0"/>
                  </a:moveTo>
                  <a:lnTo>
                    <a:pt x="6286500" y="0"/>
                  </a:lnTo>
                  <a:cubicBezTo>
                    <a:pt x="6321570" y="0"/>
                    <a:pt x="6350000" y="28430"/>
                    <a:pt x="6350000" y="63500"/>
                  </a:cubicBezTo>
                  <a:lnTo>
                    <a:pt x="6350000" y="88900"/>
                  </a:lnTo>
                  <a:cubicBezTo>
                    <a:pt x="6350000" y="123970"/>
                    <a:pt x="6321570" y="152400"/>
                    <a:pt x="6286500" y="152400"/>
                  </a:cubicBezTo>
                  <a:lnTo>
                    <a:pt x="63500" y="152400"/>
                  </a:lnTo>
                  <a:cubicBezTo>
                    <a:pt x="28430" y="152400"/>
                    <a:pt x="0" y="123970"/>
                    <a:pt x="0" y="88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F8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35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810375" y="3257550"/>
            <a:ext cx="7620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10375" y="4048125"/>
            <a:ext cx="4000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FILECOIN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10375" y="4810125"/>
            <a:ext cx="400050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Peso según capacidad de almacenamiento persistente verificado (Storage Power).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906250" y="2857500"/>
            <a:ext cx="4762500" cy="4476750"/>
            <a:chOff x="0" y="0"/>
            <a:chExt cx="6350000" cy="5969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50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350000">
                  <a:moveTo>
                    <a:pt x="228600" y="0"/>
                  </a:moveTo>
                  <a:lnTo>
                    <a:pt x="6121400" y="0"/>
                  </a:lnTo>
                  <a:cubicBezTo>
                    <a:pt x="6247652" y="0"/>
                    <a:pt x="6350000" y="102348"/>
                    <a:pt x="6350000" y="228600"/>
                  </a:cubicBezTo>
                  <a:lnTo>
                    <a:pt x="6350000" y="5740400"/>
                  </a:lnTo>
                  <a:cubicBezTo>
                    <a:pt x="6350000" y="5866652"/>
                    <a:pt x="6247652" y="5969000"/>
                    <a:pt x="6121400" y="5969000"/>
                  </a:cubicBezTo>
                  <a:lnTo>
                    <a:pt x="228600" y="5969000"/>
                  </a:lnTo>
                  <a:cubicBezTo>
                    <a:pt x="102348" y="5969000"/>
                    <a:pt x="0" y="5866652"/>
                    <a:pt x="0" y="5740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350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06250" y="2857500"/>
            <a:ext cx="4762500" cy="114300"/>
            <a:chOff x="0" y="0"/>
            <a:chExt cx="6350000" cy="152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0" cy="152400"/>
            </a:xfrm>
            <a:custGeom>
              <a:avLst/>
              <a:gdLst/>
              <a:ahLst/>
              <a:cxnLst/>
              <a:rect r="r" b="b" t="t" l="l"/>
              <a:pathLst>
                <a:path h="152400" w="6350000">
                  <a:moveTo>
                    <a:pt x="63500" y="0"/>
                  </a:moveTo>
                  <a:lnTo>
                    <a:pt x="6286500" y="0"/>
                  </a:lnTo>
                  <a:cubicBezTo>
                    <a:pt x="6321570" y="0"/>
                    <a:pt x="6350000" y="28430"/>
                    <a:pt x="6350000" y="63500"/>
                  </a:cubicBezTo>
                  <a:lnTo>
                    <a:pt x="6350000" y="88900"/>
                  </a:lnTo>
                  <a:cubicBezTo>
                    <a:pt x="6350000" y="123970"/>
                    <a:pt x="6321570" y="152400"/>
                    <a:pt x="6286500" y="152400"/>
                  </a:cubicBezTo>
                  <a:lnTo>
                    <a:pt x="63500" y="152400"/>
                  </a:lnTo>
                  <a:cubicBezTo>
                    <a:pt x="28430" y="152400"/>
                    <a:pt x="0" y="123970"/>
                    <a:pt x="0" y="88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350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239625" y="3257550"/>
            <a:ext cx="7620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39625" y="4048125"/>
            <a:ext cx="4000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CHIA NETWORK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239625" y="4810125"/>
            <a:ext cx="40005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Filosofía basada en espacio en disco (Proof of Space and Time).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METODOLOGÍA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6. Simulación Experimental y Resultados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381250"/>
            <a:ext cx="9525000" cy="5619750"/>
            <a:chOff x="0" y="0"/>
            <a:chExt cx="12700000" cy="749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00000" cy="7493000"/>
            </a:xfrm>
            <a:custGeom>
              <a:avLst/>
              <a:gdLst/>
              <a:ahLst/>
              <a:cxnLst/>
              <a:rect r="r" b="b" t="t" l="l"/>
              <a:pathLst>
                <a:path h="7493000" w="12700000">
                  <a:moveTo>
                    <a:pt x="228600" y="0"/>
                  </a:moveTo>
                  <a:lnTo>
                    <a:pt x="12471400" y="0"/>
                  </a:lnTo>
                  <a:cubicBezTo>
                    <a:pt x="12597652" y="0"/>
                    <a:pt x="12700000" y="102348"/>
                    <a:pt x="12700000" y="228600"/>
                  </a:cubicBezTo>
                  <a:lnTo>
                    <a:pt x="12700000" y="7264400"/>
                  </a:lnTo>
                  <a:cubicBezTo>
                    <a:pt x="12700000" y="7390652"/>
                    <a:pt x="12597652" y="7493000"/>
                    <a:pt x="12471400" y="7493000"/>
                  </a:cubicBezTo>
                  <a:lnTo>
                    <a:pt x="228600" y="7493000"/>
                  </a:lnTo>
                  <a:cubicBezTo>
                    <a:pt x="102348" y="7493000"/>
                    <a:pt x="0" y="7390652"/>
                    <a:pt x="0" y="7264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700000" cy="753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375" y="2695575"/>
            <a:ext cx="6667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Diseño experimental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6375" y="3381375"/>
            <a:ext cx="790575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Función de peso multidimensional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Configuración de 4 nodos heterogéneos: Nodo A a Nodo D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Simulación de 1.000 rondas de lotería ponderada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0" y="2381250"/>
            <a:ext cx="5810250" cy="2095500"/>
            <a:chOff x="0" y="0"/>
            <a:chExt cx="7747000" cy="279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47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747000">
                  <a:moveTo>
                    <a:pt x="228600" y="0"/>
                  </a:moveTo>
                  <a:lnTo>
                    <a:pt x="7518400" y="0"/>
                  </a:lnTo>
                  <a:cubicBezTo>
                    <a:pt x="7644652" y="0"/>
                    <a:pt x="7747000" y="102348"/>
                    <a:pt x="7747000" y="228600"/>
                  </a:cubicBezTo>
                  <a:lnTo>
                    <a:pt x="7747000" y="2565400"/>
                  </a:lnTo>
                  <a:cubicBezTo>
                    <a:pt x="7747000" y="2691652"/>
                    <a:pt x="7644652" y="2794000"/>
                    <a:pt x="7518400" y="2794000"/>
                  </a:cubicBezTo>
                  <a:lnTo>
                    <a:pt x="228600" y="2794000"/>
                  </a:lnTo>
                  <a:cubicBezTo>
                    <a:pt x="102348" y="2794000"/>
                    <a:pt x="0" y="2691652"/>
                    <a:pt x="0" y="2565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747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811000" y="2705100"/>
            <a:ext cx="504825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 = 50% tokens + 20% antigüedad + 30% almacenamiento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30000" y="4953000"/>
            <a:ext cx="5810250" cy="3048000"/>
            <a:chOff x="0" y="0"/>
            <a:chExt cx="7747000" cy="406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47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7747000">
                  <a:moveTo>
                    <a:pt x="228600" y="0"/>
                  </a:moveTo>
                  <a:lnTo>
                    <a:pt x="7518400" y="0"/>
                  </a:lnTo>
                  <a:cubicBezTo>
                    <a:pt x="7644652" y="0"/>
                    <a:pt x="7747000" y="102348"/>
                    <a:pt x="7747000" y="228600"/>
                  </a:cubicBezTo>
                  <a:lnTo>
                    <a:pt x="7747000" y="3835400"/>
                  </a:lnTo>
                  <a:cubicBezTo>
                    <a:pt x="7747000" y="3961652"/>
                    <a:pt x="7644652" y="4064000"/>
                    <a:pt x="7518400" y="4064000"/>
                  </a:cubicBezTo>
                  <a:lnTo>
                    <a:pt x="228600" y="4064000"/>
                  </a:lnTo>
                  <a:cubicBezTo>
                    <a:pt x="102348" y="4064000"/>
                    <a:pt x="0" y="3961652"/>
                    <a:pt x="0" y="3835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747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001500" y="5667375"/>
            <a:ext cx="4667250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peso = 0.50*tokens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+ 0.20*antigüedad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+ 0.30*almacenamiento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76375" y="8477250"/>
            <a:ext cx="1428750" cy="619125"/>
            <a:chOff x="0" y="0"/>
            <a:chExt cx="1905000" cy="82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673100"/>
                  </a:lnTo>
                  <a:cubicBezTo>
                    <a:pt x="1905000" y="757268"/>
                    <a:pt x="1836768" y="825500"/>
                    <a:pt x="1752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05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76375" y="8620125"/>
            <a:ext cx="14287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 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476625" y="8477250"/>
            <a:ext cx="1428750" cy="619125"/>
            <a:chOff x="0" y="0"/>
            <a:chExt cx="1905000" cy="825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673100"/>
                  </a:lnTo>
                  <a:cubicBezTo>
                    <a:pt x="1905000" y="757268"/>
                    <a:pt x="1836768" y="825500"/>
                    <a:pt x="1752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05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476625" y="8620125"/>
            <a:ext cx="14287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 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476875" y="8477250"/>
            <a:ext cx="1428750" cy="619125"/>
            <a:chOff x="0" y="0"/>
            <a:chExt cx="1905000" cy="825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673100"/>
                  </a:lnTo>
                  <a:cubicBezTo>
                    <a:pt x="1905000" y="757268"/>
                    <a:pt x="1836768" y="825500"/>
                    <a:pt x="1752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05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476875" y="8620125"/>
            <a:ext cx="14287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 C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477125" y="8477250"/>
            <a:ext cx="1428750" cy="619125"/>
            <a:chOff x="0" y="0"/>
            <a:chExt cx="1905000" cy="825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00" cy="825500"/>
            </a:xfrm>
            <a:custGeom>
              <a:avLst/>
              <a:gdLst/>
              <a:ahLst/>
              <a:cxnLst/>
              <a:rect r="r" b="b" t="t" l="l"/>
              <a:pathLst>
                <a:path h="8255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673100"/>
                  </a:lnTo>
                  <a:cubicBezTo>
                    <a:pt x="1905000" y="757268"/>
                    <a:pt x="1836768" y="825500"/>
                    <a:pt x="1752600" y="825500"/>
                  </a:cubicBezTo>
                  <a:lnTo>
                    <a:pt x="152400" y="825500"/>
                  </a:lnTo>
                  <a:cubicBezTo>
                    <a:pt x="68232" y="825500"/>
                    <a:pt x="0" y="757268"/>
                    <a:pt x="0" y="673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05000" cy="86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477125" y="8620125"/>
            <a:ext cx="14287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 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RESULTADOS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7. Resultados de la Simulación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09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2381250"/>
            <a:ext cx="1809750" cy="742950"/>
            <a:chOff x="0" y="0"/>
            <a:chExt cx="2413000" cy="990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413000">
                  <a:moveTo>
                    <a:pt x="127000" y="0"/>
                  </a:moveTo>
                  <a:lnTo>
                    <a:pt x="2286000" y="0"/>
                  </a:lnTo>
                  <a:cubicBezTo>
                    <a:pt x="2356140" y="0"/>
                    <a:pt x="2413000" y="56860"/>
                    <a:pt x="2413000" y="127000"/>
                  </a:cubicBezTo>
                  <a:lnTo>
                    <a:pt x="2413000" y="863600"/>
                  </a:lnTo>
                  <a:cubicBezTo>
                    <a:pt x="2413000" y="933740"/>
                    <a:pt x="2356140" y="990600"/>
                    <a:pt x="2286000" y="990600"/>
                  </a:cubicBezTo>
                  <a:lnTo>
                    <a:pt x="127000" y="990600"/>
                  </a:lnTo>
                  <a:cubicBezTo>
                    <a:pt x="56860" y="990600"/>
                    <a:pt x="0" y="933740"/>
                    <a:pt x="0" y="863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13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8250" y="2571750"/>
            <a:ext cx="14763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857500" y="2381250"/>
            <a:ext cx="2000250" cy="742950"/>
            <a:chOff x="0" y="0"/>
            <a:chExt cx="2667000" cy="990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7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667000">
                  <a:moveTo>
                    <a:pt x="127000" y="0"/>
                  </a:moveTo>
                  <a:lnTo>
                    <a:pt x="2540000" y="0"/>
                  </a:lnTo>
                  <a:cubicBezTo>
                    <a:pt x="2610140" y="0"/>
                    <a:pt x="2667000" y="56860"/>
                    <a:pt x="2667000" y="127000"/>
                  </a:cubicBezTo>
                  <a:lnTo>
                    <a:pt x="2667000" y="863600"/>
                  </a:lnTo>
                  <a:cubicBezTo>
                    <a:pt x="2667000" y="933740"/>
                    <a:pt x="2610140" y="990600"/>
                    <a:pt x="2540000" y="990600"/>
                  </a:cubicBezTo>
                  <a:lnTo>
                    <a:pt x="127000" y="990600"/>
                  </a:lnTo>
                  <a:cubicBezTo>
                    <a:pt x="56860" y="990600"/>
                    <a:pt x="0" y="933740"/>
                    <a:pt x="0" y="863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67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48000" y="2571750"/>
            <a:ext cx="16668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Peso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57750" y="2381250"/>
            <a:ext cx="2571750" cy="742950"/>
            <a:chOff x="0" y="0"/>
            <a:chExt cx="3429000" cy="990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990600"/>
            </a:xfrm>
            <a:custGeom>
              <a:avLst/>
              <a:gdLst/>
              <a:ahLst/>
              <a:cxnLst/>
              <a:rect r="r" b="b" t="t" l="l"/>
              <a:pathLst>
                <a:path h="990600" w="3429000">
                  <a:moveTo>
                    <a:pt x="127000" y="0"/>
                  </a:moveTo>
                  <a:lnTo>
                    <a:pt x="3302000" y="0"/>
                  </a:lnTo>
                  <a:cubicBezTo>
                    <a:pt x="3372140" y="0"/>
                    <a:pt x="3429000" y="56860"/>
                    <a:pt x="3429000" y="127000"/>
                  </a:cubicBezTo>
                  <a:lnTo>
                    <a:pt x="3429000" y="863600"/>
                  </a:lnTo>
                  <a:cubicBezTo>
                    <a:pt x="3429000" y="933740"/>
                    <a:pt x="3372140" y="990600"/>
                    <a:pt x="3302000" y="990600"/>
                  </a:cubicBezTo>
                  <a:lnTo>
                    <a:pt x="127000" y="990600"/>
                  </a:lnTo>
                  <a:cubicBezTo>
                    <a:pt x="56860" y="990600"/>
                    <a:pt x="0" y="933740"/>
                    <a:pt x="0" y="863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29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048250" y="2571750"/>
            <a:ext cx="22383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Prob. Teórica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29500" y="2381250"/>
            <a:ext cx="2762250" cy="742950"/>
            <a:chOff x="0" y="0"/>
            <a:chExt cx="3683000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83000" cy="990600"/>
            </a:xfrm>
            <a:custGeom>
              <a:avLst/>
              <a:gdLst/>
              <a:ahLst/>
              <a:cxnLst/>
              <a:rect r="r" b="b" t="t" l="l"/>
              <a:pathLst>
                <a:path h="990600" w="3683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863600"/>
                  </a:lnTo>
                  <a:cubicBezTo>
                    <a:pt x="3683000" y="933740"/>
                    <a:pt x="3626140" y="990600"/>
                    <a:pt x="3556000" y="990600"/>
                  </a:cubicBezTo>
                  <a:lnTo>
                    <a:pt x="127000" y="990600"/>
                  </a:lnTo>
                  <a:cubicBezTo>
                    <a:pt x="56860" y="990600"/>
                    <a:pt x="0" y="933740"/>
                    <a:pt x="0" y="863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83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20000" y="2571750"/>
            <a:ext cx="24288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Bloques Ganados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191750" y="2381250"/>
            <a:ext cx="2667000" cy="742950"/>
            <a:chOff x="0" y="0"/>
            <a:chExt cx="3556000" cy="990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3556000">
                  <a:moveTo>
                    <a:pt x="127000" y="0"/>
                  </a:moveTo>
                  <a:lnTo>
                    <a:pt x="3429000" y="0"/>
                  </a:lnTo>
                  <a:cubicBezTo>
                    <a:pt x="3499140" y="0"/>
                    <a:pt x="3556000" y="56860"/>
                    <a:pt x="3556000" y="127000"/>
                  </a:cubicBezTo>
                  <a:lnTo>
                    <a:pt x="3556000" y="863600"/>
                  </a:lnTo>
                  <a:cubicBezTo>
                    <a:pt x="3556000" y="933740"/>
                    <a:pt x="3499140" y="990600"/>
                    <a:pt x="3429000" y="990600"/>
                  </a:cubicBezTo>
                  <a:lnTo>
                    <a:pt x="127000" y="990600"/>
                  </a:lnTo>
                  <a:cubicBezTo>
                    <a:pt x="56860" y="990600"/>
                    <a:pt x="0" y="933740"/>
                    <a:pt x="0" y="863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273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556000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382250" y="2571750"/>
            <a:ext cx="23336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Frec. Obtenida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47750" y="3124200"/>
            <a:ext cx="1809750" cy="1000125"/>
            <a:chOff x="0" y="0"/>
            <a:chExt cx="2413000" cy="133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41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38250" y="3400425"/>
            <a:ext cx="1476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Nodo 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857500" y="3124200"/>
            <a:ext cx="2000250" cy="1000125"/>
            <a:chOff x="0" y="0"/>
            <a:chExt cx="2667000" cy="1333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048000" y="3400425"/>
            <a:ext cx="1666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93,0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857750" y="3124200"/>
            <a:ext cx="2571750" cy="1000125"/>
            <a:chOff x="0" y="0"/>
            <a:chExt cx="3429000" cy="1333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42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048250" y="3400425"/>
            <a:ext cx="2238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3,79%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429500" y="3124200"/>
            <a:ext cx="2762250" cy="1000125"/>
            <a:chOff x="0" y="0"/>
            <a:chExt cx="3683000" cy="1333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8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8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620000" y="3400425"/>
            <a:ext cx="2428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36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191750" y="3124200"/>
            <a:ext cx="2667000" cy="1000125"/>
            <a:chOff x="0" y="0"/>
            <a:chExt cx="3556000" cy="1333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5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556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382250" y="3400425"/>
            <a:ext cx="23336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3,60%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47750" y="4124325"/>
            <a:ext cx="1809750" cy="1000125"/>
            <a:chOff x="0" y="0"/>
            <a:chExt cx="2413000" cy="13335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41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38250" y="4400550"/>
            <a:ext cx="1476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Nodo B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857500" y="4124325"/>
            <a:ext cx="2000250" cy="1000125"/>
            <a:chOff x="0" y="0"/>
            <a:chExt cx="2667000" cy="1333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3048000" y="4400550"/>
            <a:ext cx="1666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309,0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4857750" y="4124325"/>
            <a:ext cx="2571750" cy="1000125"/>
            <a:chOff x="0" y="0"/>
            <a:chExt cx="3429000" cy="1333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42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5048250" y="4400550"/>
            <a:ext cx="2238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12,59%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429500" y="4124325"/>
            <a:ext cx="2762250" cy="1000125"/>
            <a:chOff x="0" y="0"/>
            <a:chExt cx="3683000" cy="1333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8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68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7620000" y="4400550"/>
            <a:ext cx="2428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134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191750" y="4124325"/>
            <a:ext cx="2667000" cy="1000125"/>
            <a:chOff x="0" y="0"/>
            <a:chExt cx="3556000" cy="13335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5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556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382250" y="4400550"/>
            <a:ext cx="23336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13,40%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47750" y="5124450"/>
            <a:ext cx="1809750" cy="1000125"/>
            <a:chOff x="0" y="0"/>
            <a:chExt cx="2413000" cy="13335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41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38250" y="5400675"/>
            <a:ext cx="1476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Nodo C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2857500" y="5124450"/>
            <a:ext cx="2000250" cy="1000125"/>
            <a:chOff x="0" y="0"/>
            <a:chExt cx="2667000" cy="13335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3048000" y="5400675"/>
            <a:ext cx="1666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654,0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4857750" y="5124450"/>
            <a:ext cx="2571750" cy="1000125"/>
            <a:chOff x="0" y="0"/>
            <a:chExt cx="3429000" cy="13335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42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5048250" y="5400675"/>
            <a:ext cx="2238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26,65%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429500" y="5124450"/>
            <a:ext cx="2762250" cy="1000125"/>
            <a:chOff x="0" y="0"/>
            <a:chExt cx="3683000" cy="13335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8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68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7620000" y="5400675"/>
            <a:ext cx="2428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268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191750" y="5124450"/>
            <a:ext cx="2667000" cy="1000125"/>
            <a:chOff x="0" y="0"/>
            <a:chExt cx="3556000" cy="13335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5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556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0382250" y="5400675"/>
            <a:ext cx="23336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26,80%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47750" y="6124575"/>
            <a:ext cx="1809750" cy="1000125"/>
            <a:chOff x="0" y="0"/>
            <a:chExt cx="2413000" cy="13335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41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238250" y="6400800"/>
            <a:ext cx="1476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Nodo D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2857500" y="6124575"/>
            <a:ext cx="2000250" cy="1000125"/>
            <a:chOff x="0" y="0"/>
            <a:chExt cx="2667000" cy="13335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3048000" y="6400800"/>
            <a:ext cx="1666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1398,0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4857750" y="6124575"/>
            <a:ext cx="2571750" cy="1000125"/>
            <a:chOff x="0" y="0"/>
            <a:chExt cx="3429000" cy="13335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42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42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048250" y="6400800"/>
            <a:ext cx="22383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56,97%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7429500" y="6124575"/>
            <a:ext cx="2762250" cy="1000125"/>
            <a:chOff x="0" y="0"/>
            <a:chExt cx="3683000" cy="13335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8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683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7620000" y="6400800"/>
            <a:ext cx="2428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562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191750" y="6124575"/>
            <a:ext cx="2667000" cy="1000125"/>
            <a:chOff x="0" y="0"/>
            <a:chExt cx="3556000" cy="13335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556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556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0382250" y="6400800"/>
            <a:ext cx="23336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56,20%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3144500" y="2381250"/>
            <a:ext cx="4095750" cy="4743450"/>
            <a:chOff x="0" y="0"/>
            <a:chExt cx="5461000" cy="6324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461000" cy="6324600"/>
            </a:xfrm>
            <a:custGeom>
              <a:avLst/>
              <a:gdLst/>
              <a:ahLst/>
              <a:cxnLst/>
              <a:rect r="r" b="b" t="t" l="l"/>
              <a:pathLst>
                <a:path h="6324600" w="5461000">
                  <a:moveTo>
                    <a:pt x="228600" y="0"/>
                  </a:moveTo>
                  <a:lnTo>
                    <a:pt x="5232400" y="0"/>
                  </a:lnTo>
                  <a:cubicBezTo>
                    <a:pt x="5358652" y="0"/>
                    <a:pt x="5461000" y="102348"/>
                    <a:pt x="5461000" y="228600"/>
                  </a:cubicBezTo>
                  <a:lnTo>
                    <a:pt x="5461000" y="6096000"/>
                  </a:lnTo>
                  <a:cubicBezTo>
                    <a:pt x="5461000" y="6222252"/>
                    <a:pt x="5358652" y="6324600"/>
                    <a:pt x="5232400" y="6324600"/>
                  </a:cubicBezTo>
                  <a:lnTo>
                    <a:pt x="228600" y="6324600"/>
                  </a:lnTo>
                  <a:cubicBezTo>
                    <a:pt x="102348" y="6324600"/>
                    <a:pt x="0" y="6222252"/>
                    <a:pt x="0" y="60960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5461000" cy="636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144500" y="2381250"/>
            <a:ext cx="4095750" cy="114300"/>
            <a:chOff x="0" y="0"/>
            <a:chExt cx="5461000" cy="152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46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5461000">
                  <a:moveTo>
                    <a:pt x="76200" y="0"/>
                  </a:moveTo>
                  <a:lnTo>
                    <a:pt x="5384800" y="0"/>
                  </a:lnTo>
                  <a:cubicBezTo>
                    <a:pt x="5426884" y="0"/>
                    <a:pt x="5461000" y="34116"/>
                    <a:pt x="5461000" y="76200"/>
                  </a:cubicBezTo>
                  <a:lnTo>
                    <a:pt x="5461000" y="76200"/>
                  </a:lnTo>
                  <a:cubicBezTo>
                    <a:pt x="5461000" y="118284"/>
                    <a:pt x="5426884" y="152400"/>
                    <a:pt x="538480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461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13477875" y="2752725"/>
            <a:ext cx="28575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HALLAZGO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401675" y="2924175"/>
            <a:ext cx="133350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477875" y="4114800"/>
            <a:ext cx="3333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lidera con el 56,2%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13477875" y="5095875"/>
            <a:ext cx="3429000" cy="19050"/>
            <a:chOff x="0" y="0"/>
            <a:chExt cx="4572000" cy="25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572000" cy="25400"/>
            </a:xfrm>
            <a:custGeom>
              <a:avLst/>
              <a:gdLst/>
              <a:ahLst/>
              <a:cxnLst/>
              <a:rect r="r" b="b" t="t" l="l"/>
              <a:pathLst>
                <a:path h="25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8D8DC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4572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13477875" y="5334000"/>
            <a:ext cx="3429000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frecuencia empírica converge con la probabilidad teórica calculada.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828675"/>
            <a:ext cx="16192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8. Conclusiones y Aplicaciones Futuras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667000"/>
            <a:ext cx="16192500" cy="1524000"/>
            <a:chOff x="0" y="0"/>
            <a:chExt cx="215900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1590000">
                  <a:moveTo>
                    <a:pt x="203200" y="0"/>
                  </a:moveTo>
                  <a:lnTo>
                    <a:pt x="21386800" y="0"/>
                  </a:lnTo>
                  <a:cubicBezTo>
                    <a:pt x="21499024" y="0"/>
                    <a:pt x="21590000" y="90976"/>
                    <a:pt x="21590000" y="203200"/>
                  </a:cubicBezTo>
                  <a:lnTo>
                    <a:pt x="21590000" y="1828800"/>
                  </a:lnTo>
                  <a:cubicBezTo>
                    <a:pt x="21590000" y="1941024"/>
                    <a:pt x="21499024" y="2032000"/>
                    <a:pt x="2138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24000" y="3000375"/>
            <a:ext cx="9525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7500" y="2971800"/>
            <a:ext cx="4762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 la fuerza bruta a la utilidad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3457575"/>
            <a:ext cx="123825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Transición del consumo por fuerza bruta (PoW) a la utilidad tangible (PoWeight).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750" y="4619625"/>
            <a:ext cx="16192500" cy="1524000"/>
            <a:chOff x="0" y="0"/>
            <a:chExt cx="21590000" cy="203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9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1590000">
                  <a:moveTo>
                    <a:pt x="203200" y="0"/>
                  </a:moveTo>
                  <a:lnTo>
                    <a:pt x="21386800" y="0"/>
                  </a:lnTo>
                  <a:cubicBezTo>
                    <a:pt x="21499024" y="0"/>
                    <a:pt x="21590000" y="90976"/>
                    <a:pt x="21590000" y="203200"/>
                  </a:cubicBezTo>
                  <a:lnTo>
                    <a:pt x="21590000" y="1828800"/>
                  </a:lnTo>
                  <a:cubicBezTo>
                    <a:pt x="21590000" y="1941024"/>
                    <a:pt x="21499024" y="2032000"/>
                    <a:pt x="2138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59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24000" y="4953000"/>
            <a:ext cx="9525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57500" y="4924425"/>
            <a:ext cx="4762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Nuevos ecosistemas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500" y="5410200"/>
            <a:ext cx="123825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Gran potencial en ecosistemas de IoT y almacenamiento descentralizado.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" y="6572250"/>
            <a:ext cx="16192500" cy="1524000"/>
            <a:chOff x="0" y="0"/>
            <a:chExt cx="21590000" cy="203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9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1590000">
                  <a:moveTo>
                    <a:pt x="203200" y="0"/>
                  </a:moveTo>
                  <a:lnTo>
                    <a:pt x="21386800" y="0"/>
                  </a:lnTo>
                  <a:cubicBezTo>
                    <a:pt x="21499024" y="0"/>
                    <a:pt x="21590000" y="90976"/>
                    <a:pt x="21590000" y="203200"/>
                  </a:cubicBezTo>
                  <a:lnTo>
                    <a:pt x="21590000" y="1828800"/>
                  </a:lnTo>
                  <a:cubicBezTo>
                    <a:pt x="21590000" y="1941024"/>
                    <a:pt x="21499024" y="2032000"/>
                    <a:pt x="2138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5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590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24000" y="6905625"/>
            <a:ext cx="9525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9DB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7500" y="6877050"/>
            <a:ext cx="4762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Reto de diseño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7362825"/>
            <a:ext cx="123825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5F748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Diseñar métricas de peso seguras y resistentes a la centralización.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1250" y="3717607"/>
            <a:ext cx="14106642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1027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¡Muchas gracias por vuestra atención!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762125"/>
            <a:ext cx="1333500" cy="66675"/>
            <a:chOff x="0" y="0"/>
            <a:chExt cx="1778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0" cy="88900"/>
            </a:xfrm>
            <a:custGeom>
              <a:avLst/>
              <a:gdLst/>
              <a:ahLst/>
              <a:cxnLst/>
              <a:rect r="r" b="b" t="t" l="l"/>
              <a:pathLst>
                <a:path h="88900" w="1778000">
                  <a:moveTo>
                    <a:pt x="44450" y="0"/>
                  </a:moveTo>
                  <a:lnTo>
                    <a:pt x="1733550" y="0"/>
                  </a:lnTo>
                  <a:cubicBezTo>
                    <a:pt x="1758099" y="0"/>
                    <a:pt x="1778000" y="19901"/>
                    <a:pt x="1778000" y="44450"/>
                  </a:cubicBezTo>
                  <a:lnTo>
                    <a:pt x="1778000" y="44450"/>
                  </a:lnTo>
                  <a:cubicBezTo>
                    <a:pt x="1778000" y="68999"/>
                    <a:pt x="1758099" y="88900"/>
                    <a:pt x="1733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69DB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6858000"/>
            <a:ext cx="16192500" cy="19050"/>
            <a:chOff x="0" y="0"/>
            <a:chExt cx="21590000" cy="25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E5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2907" y="8023607"/>
            <a:ext cx="3276190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Arribí Lamas, Moisés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Martínez López, Miguel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61645" y="8252207"/>
            <a:ext cx="379765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027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Coruña, 19 de Octubre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961072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5F748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POWEIGHT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DAHYG5Qp7Vk</dc:identifier>
  <dcterms:modified xsi:type="dcterms:W3CDTF">2011-08-01T06:04:30Z</dcterms:modified>
  <cp:revision>1</cp:revision>
  <dc:title>Protocolo PoWeight</dc:title>
</cp:coreProperties>
</file>