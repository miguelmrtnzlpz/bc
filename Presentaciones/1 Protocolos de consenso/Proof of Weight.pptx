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Source Sans 3 Bold" charset="1" panose="020B0303030403020204"/>
      <p:regular r:id="rId18"/>
    </p:embeddedFont>
    <p:embeddedFont>
      <p:font typeface="Source Sans 3" charset="1" panose="020B0303030403020204"/>
      <p:regular r:id="rId19"/>
    </p:embeddedFont>
    <p:embeddedFont>
      <p:font typeface="Source Sans Pro Bold" charset="1" panose="020B0703030403020204"/>
      <p:regular r:id="rId20"/>
    </p:embeddedFont>
    <p:embeddedFont>
      <p:font typeface="Source Sans Pro" charset="1" panose="020B050303040302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BFAF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01500" y="0"/>
            <a:ext cx="6286500" cy="10287000"/>
            <a:chOff x="0" y="0"/>
            <a:chExt cx="8382000" cy="1371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38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382000">
                  <a:moveTo>
                    <a:pt x="0" y="0"/>
                  </a:moveTo>
                  <a:lnTo>
                    <a:pt x="8382000" y="0"/>
                  </a:lnTo>
                  <a:lnTo>
                    <a:pt x="838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382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668750" y="0"/>
            <a:ext cx="1619250" cy="10287000"/>
            <a:chOff x="0" y="0"/>
            <a:chExt cx="2159000" cy="1371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59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159000">
                  <a:moveTo>
                    <a:pt x="0" y="0"/>
                  </a:moveTo>
                  <a:lnTo>
                    <a:pt x="2159000" y="0"/>
                  </a:lnTo>
                  <a:lnTo>
                    <a:pt x="2159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159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1790700"/>
            <a:ext cx="9906000" cy="2147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80"/>
              </a:lnSpc>
            </a:pPr>
            <a:r>
              <a:rPr lang="en-US" sz="62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Protocolo de Consenso:</a:t>
            </a:r>
          </a:p>
          <a:p>
            <a:pPr algn="l">
              <a:lnSpc>
                <a:spcPts val="8680"/>
              </a:lnSpc>
            </a:pPr>
            <a:r>
              <a:rPr lang="en-US" sz="62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Proof of Weight (PoWeight)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750" y="4252595"/>
            <a:ext cx="9620250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Tecnologías de Registro Distribuido y Blockchain</a:t>
            </a:r>
          </a:p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Tarea Colaborativa 1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047750" y="5595620"/>
            <a:ext cx="1428750" cy="66675"/>
            <a:chOff x="0" y="0"/>
            <a:chExt cx="1905000" cy="889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05000" cy="88900"/>
            </a:xfrm>
            <a:custGeom>
              <a:avLst/>
              <a:gdLst/>
              <a:ahLst/>
              <a:cxnLst/>
              <a:rect r="r" b="b" t="t" l="l"/>
              <a:pathLst>
                <a:path h="88900" w="1905000">
                  <a:moveTo>
                    <a:pt x="44450" y="0"/>
                  </a:moveTo>
                  <a:lnTo>
                    <a:pt x="1860550" y="0"/>
                  </a:lnTo>
                  <a:cubicBezTo>
                    <a:pt x="1885099" y="0"/>
                    <a:pt x="1905000" y="19901"/>
                    <a:pt x="1905000" y="44450"/>
                  </a:cubicBezTo>
                  <a:lnTo>
                    <a:pt x="1905000" y="44450"/>
                  </a:lnTo>
                  <a:cubicBezTo>
                    <a:pt x="1905000" y="68999"/>
                    <a:pt x="1885099" y="88900"/>
                    <a:pt x="1860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905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047750" y="6286500"/>
            <a:ext cx="2857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AUTORES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6716077"/>
            <a:ext cx="9397207" cy="1353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Arribí Lamas, Moisés</a:t>
            </a:r>
          </a:p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Martínez López, Miguel </a:t>
            </a:r>
          </a:p>
          <a:p>
            <a:pPr algn="l">
              <a:lnSpc>
                <a:spcPts val="3640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7886065"/>
            <a:ext cx="3905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Coruña, 19 de octubre de 2026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90625" y="904875"/>
            <a:ext cx="4953000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5400" b="true">
                <a:solidFill>
                  <a:srgbClr val="193242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Índice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190625" y="1866900"/>
            <a:ext cx="1285875" cy="57150"/>
            <a:chOff x="0" y="0"/>
            <a:chExt cx="1714500" cy="762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14500" cy="76200"/>
            </a:xfrm>
            <a:custGeom>
              <a:avLst/>
              <a:gdLst/>
              <a:ahLst/>
              <a:cxnLst/>
              <a:rect r="r" b="b" t="t" l="l"/>
              <a:pathLst>
                <a:path h="76200" w="1714500">
                  <a:moveTo>
                    <a:pt x="38100" y="0"/>
                  </a:moveTo>
                  <a:lnTo>
                    <a:pt x="1676400" y="0"/>
                  </a:lnTo>
                  <a:cubicBezTo>
                    <a:pt x="1697442" y="0"/>
                    <a:pt x="1714500" y="17058"/>
                    <a:pt x="1714500" y="38100"/>
                  </a:cubicBezTo>
                  <a:lnTo>
                    <a:pt x="1714500" y="38100"/>
                  </a:lnTo>
                  <a:cubicBezTo>
                    <a:pt x="1714500" y="59142"/>
                    <a:pt x="1697442" y="76200"/>
                    <a:pt x="1676400" y="76200"/>
                  </a:cubicBezTo>
                  <a:lnTo>
                    <a:pt x="38100" y="76200"/>
                  </a:lnTo>
                  <a:cubicBezTo>
                    <a:pt x="17058" y="76200"/>
                    <a:pt x="0" y="59142"/>
                    <a:pt x="0" y="381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145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90625" y="2381250"/>
            <a:ext cx="15906750" cy="552450"/>
            <a:chOff x="0" y="0"/>
            <a:chExt cx="21209000" cy="736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90625" y="2381250"/>
            <a:ext cx="66675" cy="552450"/>
            <a:chOff x="0" y="0"/>
            <a:chExt cx="88900" cy="736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543050" y="24860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169FB8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24125" y="24765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Definición y Características Generales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90625" y="3028950"/>
            <a:ext cx="15906750" cy="552450"/>
            <a:chOff x="0" y="0"/>
            <a:chExt cx="21209000" cy="736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90625" y="3028950"/>
            <a:ext cx="66675" cy="552450"/>
            <a:chOff x="0" y="0"/>
            <a:chExt cx="88900" cy="736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543050" y="31337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2F7F83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524125" y="31242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Mecanismo de Funcionamiento y VRF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90625" y="3676650"/>
            <a:ext cx="15906750" cy="552450"/>
            <a:chOff x="0" y="0"/>
            <a:chExt cx="21209000" cy="736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190625" y="3676650"/>
            <a:ext cx="66675" cy="552450"/>
            <a:chOff x="0" y="0"/>
            <a:chExt cx="889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543050" y="37814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169FB8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24125" y="37719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Lotería Ponderada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190625" y="4324350"/>
            <a:ext cx="15906750" cy="552450"/>
            <a:chOff x="0" y="0"/>
            <a:chExt cx="21209000" cy="7366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90625" y="4324350"/>
            <a:ext cx="66675" cy="552450"/>
            <a:chOff x="0" y="0"/>
            <a:chExt cx="88900" cy="736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43050" y="44291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2F7F83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524125" y="44196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Ventajas e Inconvenientes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190625" y="4972050"/>
            <a:ext cx="15906750" cy="552450"/>
            <a:chOff x="0" y="0"/>
            <a:chExt cx="21209000" cy="736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90625" y="4972050"/>
            <a:ext cx="66675" cy="552450"/>
            <a:chOff x="0" y="0"/>
            <a:chExt cx="88900" cy="736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543050" y="50768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169FB8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05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524125" y="50673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Seguridad y Principales Ataques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190625" y="5619750"/>
            <a:ext cx="15906750" cy="552450"/>
            <a:chOff x="0" y="0"/>
            <a:chExt cx="21209000" cy="7366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90625" y="5619750"/>
            <a:ext cx="66675" cy="552450"/>
            <a:chOff x="0" y="0"/>
            <a:chExt cx="88900" cy="736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1543050" y="57245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2F7F83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524125" y="57150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Casos de Uso en Tecnologías DLT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190625" y="6267450"/>
            <a:ext cx="15906750" cy="552450"/>
            <a:chOff x="0" y="0"/>
            <a:chExt cx="21209000" cy="7366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190625" y="6267450"/>
            <a:ext cx="66675" cy="552450"/>
            <a:chOff x="0" y="0"/>
            <a:chExt cx="88900" cy="7366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543050" y="63722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169FB8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07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2524125" y="63627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Simulación Experimental y Metodología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1190625" y="6915150"/>
            <a:ext cx="15906750" cy="552450"/>
            <a:chOff x="0" y="0"/>
            <a:chExt cx="21209000" cy="7366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90625" y="6915150"/>
            <a:ext cx="66675" cy="552450"/>
            <a:chOff x="0" y="0"/>
            <a:chExt cx="88900" cy="7366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543050" y="70199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2F7F83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08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524125" y="70104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Resultados de la Simulación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1190625" y="7562850"/>
            <a:ext cx="15906750" cy="552450"/>
            <a:chOff x="0" y="0"/>
            <a:chExt cx="21209000" cy="7366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90625" y="7562850"/>
            <a:ext cx="66675" cy="552450"/>
            <a:chOff x="0" y="0"/>
            <a:chExt cx="88900" cy="7366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43050" y="766762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169FB8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09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2524125" y="765810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Conclusiones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1190625" y="8305800"/>
            <a:ext cx="15906750" cy="552450"/>
            <a:chOff x="0" y="0"/>
            <a:chExt cx="21209000" cy="7366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1209000" cy="736600"/>
            </a:xfrm>
            <a:custGeom>
              <a:avLst/>
              <a:gdLst/>
              <a:ahLst/>
              <a:cxnLst/>
              <a:rect r="r" b="b" t="t" l="l"/>
              <a:pathLst>
                <a:path h="736600" w="21209000">
                  <a:moveTo>
                    <a:pt x="88900" y="0"/>
                  </a:moveTo>
                  <a:lnTo>
                    <a:pt x="21120100" y="0"/>
                  </a:lnTo>
                  <a:cubicBezTo>
                    <a:pt x="21169198" y="0"/>
                    <a:pt x="21209000" y="39802"/>
                    <a:pt x="21209000" y="88900"/>
                  </a:cubicBezTo>
                  <a:lnTo>
                    <a:pt x="21209000" y="647700"/>
                  </a:lnTo>
                  <a:cubicBezTo>
                    <a:pt x="21209000" y="696798"/>
                    <a:pt x="21169198" y="736600"/>
                    <a:pt x="21120100" y="736600"/>
                  </a:cubicBezTo>
                  <a:lnTo>
                    <a:pt x="88900" y="736600"/>
                  </a:lnTo>
                  <a:cubicBezTo>
                    <a:pt x="39802" y="736600"/>
                    <a:pt x="0" y="696798"/>
                    <a:pt x="0" y="647700"/>
                  </a:cubicBezTo>
                  <a:lnTo>
                    <a:pt x="0" y="88900"/>
                  </a:lnTo>
                  <a:cubicBezTo>
                    <a:pt x="0" y="39802"/>
                    <a:pt x="39802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FE7E9"/>
              </a:solidFill>
              <a:prstDash val="solid"/>
              <a:miter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212090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190625" y="8305800"/>
            <a:ext cx="66675" cy="552450"/>
            <a:chOff x="0" y="0"/>
            <a:chExt cx="88900" cy="7366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88900" cy="736600"/>
            </a:xfrm>
            <a:custGeom>
              <a:avLst/>
              <a:gdLst/>
              <a:ahLst/>
              <a:cxnLst/>
              <a:rect r="r" b="b" t="t" l="l"/>
              <a:pathLst>
                <a:path h="736600" w="88900">
                  <a:moveTo>
                    <a:pt x="38100" y="0"/>
                  </a:moveTo>
                  <a:lnTo>
                    <a:pt x="50800" y="0"/>
                  </a:lnTo>
                  <a:cubicBezTo>
                    <a:pt x="71842" y="0"/>
                    <a:pt x="88900" y="17058"/>
                    <a:pt x="88900" y="38100"/>
                  </a:cubicBezTo>
                  <a:lnTo>
                    <a:pt x="88900" y="698500"/>
                  </a:lnTo>
                  <a:cubicBezTo>
                    <a:pt x="88900" y="719542"/>
                    <a:pt x="71842" y="736600"/>
                    <a:pt x="50800" y="736600"/>
                  </a:cubicBezTo>
                  <a:lnTo>
                    <a:pt x="38100" y="736600"/>
                  </a:lnTo>
                  <a:cubicBezTo>
                    <a:pt x="17058" y="736600"/>
                    <a:pt x="0" y="719542"/>
                    <a:pt x="0" y="698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889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1543050" y="8410575"/>
            <a:ext cx="6191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2F7F83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10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524125" y="8401050"/>
            <a:ext cx="1381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93242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Preguntas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02/12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1. Definición y Características Generales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333625"/>
            <a:ext cx="16192500" cy="2062162"/>
            <a:chOff x="0" y="0"/>
            <a:chExt cx="21590000" cy="27495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590000" cy="2749550"/>
            </a:xfrm>
            <a:custGeom>
              <a:avLst/>
              <a:gdLst/>
              <a:ahLst/>
              <a:cxnLst/>
              <a:rect r="r" b="b" t="t" l="l"/>
              <a:pathLst>
                <a:path h="2749550" w="21590000">
                  <a:moveTo>
                    <a:pt x="125058" y="0"/>
                  </a:moveTo>
                  <a:lnTo>
                    <a:pt x="21464943" y="0"/>
                  </a:lnTo>
                  <a:cubicBezTo>
                    <a:pt x="21498109" y="0"/>
                    <a:pt x="21529918" y="13176"/>
                    <a:pt x="21553371" y="36629"/>
                  </a:cubicBezTo>
                  <a:cubicBezTo>
                    <a:pt x="21576824" y="60081"/>
                    <a:pt x="21590000" y="91890"/>
                    <a:pt x="21590000" y="125058"/>
                  </a:cubicBezTo>
                  <a:lnTo>
                    <a:pt x="21590000" y="2624492"/>
                  </a:lnTo>
                  <a:cubicBezTo>
                    <a:pt x="21590000" y="2657660"/>
                    <a:pt x="21576824" y="2689469"/>
                    <a:pt x="21553371" y="2712921"/>
                  </a:cubicBezTo>
                  <a:cubicBezTo>
                    <a:pt x="21529918" y="2736374"/>
                    <a:pt x="21498109" y="2749550"/>
                    <a:pt x="21464943" y="2749550"/>
                  </a:cubicBezTo>
                  <a:lnTo>
                    <a:pt x="125058" y="2749550"/>
                  </a:lnTo>
                  <a:cubicBezTo>
                    <a:pt x="91890" y="2749550"/>
                    <a:pt x="60081" y="2736374"/>
                    <a:pt x="36629" y="2712921"/>
                  </a:cubicBezTo>
                  <a:cubicBezTo>
                    <a:pt x="13176" y="2689469"/>
                    <a:pt x="0" y="2657660"/>
                    <a:pt x="0" y="2624492"/>
                  </a:cubicBezTo>
                  <a:lnTo>
                    <a:pt x="0" y="125058"/>
                  </a:lnTo>
                  <a:cubicBezTo>
                    <a:pt x="0" y="91890"/>
                    <a:pt x="13176" y="60081"/>
                    <a:pt x="36629" y="36629"/>
                  </a:cubicBezTo>
                  <a:cubicBezTo>
                    <a:pt x="60081" y="13176"/>
                    <a:pt x="91890" y="0"/>
                    <a:pt x="125058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590000" cy="2787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619250" y="2968529"/>
            <a:ext cx="154305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2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Es un modelo de consenso donde la influencia de cada participante depende de un “peso” multifactorial.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94167" y="3595688"/>
            <a:ext cx="13899666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 peso combina tokens, antigüedad, almacenamiento y actividad para distribuir el derecho de participación.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476750" y="5595127"/>
            <a:ext cx="8864041" cy="967719"/>
            <a:chOff x="0" y="0"/>
            <a:chExt cx="11818722" cy="129029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818722" cy="1290291"/>
            </a:xfrm>
            <a:custGeom>
              <a:avLst/>
              <a:gdLst/>
              <a:ahLst/>
              <a:cxnLst/>
              <a:rect r="r" b="b" t="t" l="l"/>
              <a:pathLst>
                <a:path h="1290291" w="11818722">
                  <a:moveTo>
                    <a:pt x="150936" y="0"/>
                  </a:moveTo>
                  <a:lnTo>
                    <a:pt x="11667786" y="0"/>
                  </a:lnTo>
                  <a:cubicBezTo>
                    <a:pt x="11707817" y="0"/>
                    <a:pt x="11746208" y="15902"/>
                    <a:pt x="11774514" y="44208"/>
                  </a:cubicBezTo>
                  <a:cubicBezTo>
                    <a:pt x="11802820" y="72514"/>
                    <a:pt x="11818722" y="110905"/>
                    <a:pt x="11818722" y="150936"/>
                  </a:cubicBezTo>
                  <a:lnTo>
                    <a:pt x="11818722" y="1139356"/>
                  </a:lnTo>
                  <a:cubicBezTo>
                    <a:pt x="11818722" y="1222715"/>
                    <a:pt x="11751146" y="1290291"/>
                    <a:pt x="11667786" y="1290291"/>
                  </a:cubicBezTo>
                  <a:lnTo>
                    <a:pt x="150936" y="1290291"/>
                  </a:lnTo>
                  <a:cubicBezTo>
                    <a:pt x="110905" y="1290291"/>
                    <a:pt x="72514" y="1274389"/>
                    <a:pt x="44208" y="1246083"/>
                  </a:cubicBezTo>
                  <a:cubicBezTo>
                    <a:pt x="15902" y="1217777"/>
                    <a:pt x="0" y="1179386"/>
                    <a:pt x="0" y="1139356"/>
                  </a:cubicBezTo>
                  <a:lnTo>
                    <a:pt x="0" y="150936"/>
                  </a:lnTo>
                  <a:cubicBezTo>
                    <a:pt x="0" y="110905"/>
                    <a:pt x="15902" y="72514"/>
                    <a:pt x="44208" y="44208"/>
                  </a:cubicBezTo>
                  <a:cubicBezTo>
                    <a:pt x="72514" y="15902"/>
                    <a:pt x="110905" y="0"/>
                    <a:pt x="150936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818722" cy="1328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015717" y="5882136"/>
            <a:ext cx="8010964" cy="384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25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Mitigar la plutocracia de PoS sin recurrir a minería intensiva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47750" y="7334250"/>
            <a:ext cx="3429000" cy="1762125"/>
            <a:chOff x="0" y="0"/>
            <a:chExt cx="4572000" cy="23495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572000" cy="2349500"/>
            </a:xfrm>
            <a:custGeom>
              <a:avLst/>
              <a:gdLst/>
              <a:ahLst/>
              <a:cxnLst/>
              <a:rect r="r" b="b" t="t" l="l"/>
              <a:pathLst>
                <a:path h="2349500" w="4572000">
                  <a:moveTo>
                    <a:pt x="152400" y="0"/>
                  </a:moveTo>
                  <a:lnTo>
                    <a:pt x="4419600" y="0"/>
                  </a:lnTo>
                  <a:cubicBezTo>
                    <a:pt x="4503768" y="0"/>
                    <a:pt x="4572000" y="68232"/>
                    <a:pt x="4572000" y="152400"/>
                  </a:cubicBezTo>
                  <a:lnTo>
                    <a:pt x="4572000" y="2197100"/>
                  </a:lnTo>
                  <a:cubicBezTo>
                    <a:pt x="4572000" y="2281268"/>
                    <a:pt x="4503768" y="2349500"/>
                    <a:pt x="4419600" y="2349500"/>
                  </a:cubicBezTo>
                  <a:lnTo>
                    <a:pt x="152400" y="2349500"/>
                  </a:lnTo>
                  <a:cubicBezTo>
                    <a:pt x="68232" y="2349500"/>
                    <a:pt x="0" y="2281268"/>
                    <a:pt x="0" y="2197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572000" cy="2387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322391" y="7484428"/>
            <a:ext cx="879717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TOKENS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4450" y="8039100"/>
            <a:ext cx="3001652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Participación económica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191125" y="7334250"/>
            <a:ext cx="3429000" cy="1762125"/>
            <a:chOff x="0" y="0"/>
            <a:chExt cx="4572000" cy="2349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0" cy="2349500"/>
            </a:xfrm>
            <a:custGeom>
              <a:avLst/>
              <a:gdLst/>
              <a:ahLst/>
              <a:cxnLst/>
              <a:rect r="r" b="b" t="t" l="l"/>
              <a:pathLst>
                <a:path h="2349500" w="4572000">
                  <a:moveTo>
                    <a:pt x="152400" y="0"/>
                  </a:moveTo>
                  <a:lnTo>
                    <a:pt x="4419600" y="0"/>
                  </a:lnTo>
                  <a:cubicBezTo>
                    <a:pt x="4503768" y="0"/>
                    <a:pt x="4572000" y="68232"/>
                    <a:pt x="4572000" y="152400"/>
                  </a:cubicBezTo>
                  <a:lnTo>
                    <a:pt x="4572000" y="2197100"/>
                  </a:lnTo>
                  <a:cubicBezTo>
                    <a:pt x="4572000" y="2281268"/>
                    <a:pt x="4503768" y="2349500"/>
                    <a:pt x="4419600" y="2349500"/>
                  </a:cubicBezTo>
                  <a:lnTo>
                    <a:pt x="152400" y="2349500"/>
                  </a:lnTo>
                  <a:cubicBezTo>
                    <a:pt x="68232" y="2349500"/>
                    <a:pt x="0" y="2281268"/>
                    <a:pt x="0" y="2197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572000" cy="2387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6229058" y="7484428"/>
            <a:ext cx="1353135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ANTIGÜEDAD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457825" y="8069897"/>
            <a:ext cx="2946003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Continuidad y confianza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334500" y="7334250"/>
            <a:ext cx="3429000" cy="1762125"/>
            <a:chOff x="0" y="0"/>
            <a:chExt cx="4572000" cy="23495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2000" cy="2349500"/>
            </a:xfrm>
            <a:custGeom>
              <a:avLst/>
              <a:gdLst/>
              <a:ahLst/>
              <a:cxnLst/>
              <a:rect r="r" b="b" t="t" l="l"/>
              <a:pathLst>
                <a:path h="2349500" w="4572000">
                  <a:moveTo>
                    <a:pt x="152400" y="0"/>
                  </a:moveTo>
                  <a:lnTo>
                    <a:pt x="4419600" y="0"/>
                  </a:lnTo>
                  <a:cubicBezTo>
                    <a:pt x="4503768" y="0"/>
                    <a:pt x="4572000" y="68232"/>
                    <a:pt x="4572000" y="152400"/>
                  </a:cubicBezTo>
                  <a:lnTo>
                    <a:pt x="4572000" y="2197100"/>
                  </a:lnTo>
                  <a:cubicBezTo>
                    <a:pt x="4572000" y="2281268"/>
                    <a:pt x="4503768" y="2349500"/>
                    <a:pt x="4419600" y="2349500"/>
                  </a:cubicBezTo>
                  <a:lnTo>
                    <a:pt x="152400" y="2349500"/>
                  </a:lnTo>
                  <a:cubicBezTo>
                    <a:pt x="68232" y="2349500"/>
                    <a:pt x="0" y="2281268"/>
                    <a:pt x="0" y="2197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572000" cy="2387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0092152" y="7484428"/>
            <a:ext cx="1913696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ALMACENAMIENTO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63125" y="8039100"/>
            <a:ext cx="2716663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Recurso útil verificable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3477875" y="7334250"/>
            <a:ext cx="3429000" cy="1762125"/>
            <a:chOff x="0" y="0"/>
            <a:chExt cx="4572000" cy="2349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572000" cy="2349500"/>
            </a:xfrm>
            <a:custGeom>
              <a:avLst/>
              <a:gdLst/>
              <a:ahLst/>
              <a:cxnLst/>
              <a:rect r="r" b="b" t="t" l="l"/>
              <a:pathLst>
                <a:path h="2349500" w="4572000">
                  <a:moveTo>
                    <a:pt x="152400" y="0"/>
                  </a:moveTo>
                  <a:lnTo>
                    <a:pt x="4419600" y="0"/>
                  </a:lnTo>
                  <a:cubicBezTo>
                    <a:pt x="4503768" y="0"/>
                    <a:pt x="4572000" y="68232"/>
                    <a:pt x="4572000" y="152400"/>
                  </a:cubicBezTo>
                  <a:lnTo>
                    <a:pt x="4572000" y="2197100"/>
                  </a:lnTo>
                  <a:cubicBezTo>
                    <a:pt x="4572000" y="2281268"/>
                    <a:pt x="4503768" y="2349500"/>
                    <a:pt x="4419600" y="2349500"/>
                  </a:cubicBezTo>
                  <a:lnTo>
                    <a:pt x="152400" y="2349500"/>
                  </a:lnTo>
                  <a:cubicBezTo>
                    <a:pt x="68232" y="2349500"/>
                    <a:pt x="0" y="2281268"/>
                    <a:pt x="0" y="2197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4572000" cy="2387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4638443" y="7484428"/>
            <a:ext cx="1201632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ACTIVIDAD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830300" y="8039100"/>
            <a:ext cx="2868166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Contribución sostenida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03/12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7119938" y="1947242"/>
            <a:ext cx="3657708" cy="783162"/>
            <a:chOff x="0" y="0"/>
            <a:chExt cx="3855444" cy="8255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855444" cy="825500"/>
            </a:xfrm>
            <a:custGeom>
              <a:avLst/>
              <a:gdLst/>
              <a:ahLst/>
              <a:cxnLst/>
              <a:rect r="r" b="b" t="t" l="l"/>
              <a:pathLst>
                <a:path h="825500" w="3855444">
                  <a:moveTo>
                    <a:pt x="59529" y="0"/>
                  </a:moveTo>
                  <a:lnTo>
                    <a:pt x="3795914" y="0"/>
                  </a:lnTo>
                  <a:cubicBezTo>
                    <a:pt x="3811703" y="0"/>
                    <a:pt x="3826844" y="6272"/>
                    <a:pt x="3838008" y="17436"/>
                  </a:cubicBezTo>
                  <a:cubicBezTo>
                    <a:pt x="3849172" y="28600"/>
                    <a:pt x="3855444" y="43741"/>
                    <a:pt x="3855444" y="59529"/>
                  </a:cubicBezTo>
                  <a:lnTo>
                    <a:pt x="3855444" y="765970"/>
                  </a:lnTo>
                  <a:cubicBezTo>
                    <a:pt x="3855444" y="781759"/>
                    <a:pt x="3849172" y="796900"/>
                    <a:pt x="3838008" y="808064"/>
                  </a:cubicBezTo>
                  <a:cubicBezTo>
                    <a:pt x="3826844" y="819228"/>
                    <a:pt x="3811703" y="825500"/>
                    <a:pt x="3795914" y="825500"/>
                  </a:cubicBezTo>
                  <a:lnTo>
                    <a:pt x="59529" y="825500"/>
                  </a:lnTo>
                  <a:cubicBezTo>
                    <a:pt x="43741" y="825500"/>
                    <a:pt x="28600" y="819228"/>
                    <a:pt x="17436" y="808064"/>
                  </a:cubicBezTo>
                  <a:cubicBezTo>
                    <a:pt x="6272" y="796900"/>
                    <a:pt x="0" y="781759"/>
                    <a:pt x="0" y="765970"/>
                  </a:cubicBezTo>
                  <a:lnTo>
                    <a:pt x="0" y="59529"/>
                  </a:lnTo>
                  <a:cubicBezTo>
                    <a:pt x="0" y="43741"/>
                    <a:pt x="6272" y="28600"/>
                    <a:pt x="17436" y="17436"/>
                  </a:cubicBezTo>
                  <a:cubicBezTo>
                    <a:pt x="28600" y="6272"/>
                    <a:pt x="43741" y="0"/>
                    <a:pt x="59529" y="0"/>
                  </a:cubicBezTo>
                  <a:close/>
                </a:path>
              </a:pathLst>
            </a:custGeom>
            <a:solidFill>
              <a:srgbClr val="EEF6F7"/>
            </a:solidFill>
            <a:ln cap="sq">
              <a:noFill/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855444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7394331" y="2057835"/>
            <a:ext cx="3108920" cy="504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¿Qué </a:t>
            </a:r>
            <a:r>
              <a:rPr lang="en-US" b="true" sz="2999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es PoWeight?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7804933" y="4729042"/>
            <a:ext cx="2397260" cy="675585"/>
            <a:chOff x="0" y="0"/>
            <a:chExt cx="2929222" cy="8255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929222" cy="825500"/>
            </a:xfrm>
            <a:custGeom>
              <a:avLst/>
              <a:gdLst/>
              <a:ahLst/>
              <a:cxnLst/>
              <a:rect r="r" b="b" t="t" l="l"/>
              <a:pathLst>
                <a:path h="825500" w="2929222">
                  <a:moveTo>
                    <a:pt x="90829" y="0"/>
                  </a:moveTo>
                  <a:lnTo>
                    <a:pt x="2838393" y="0"/>
                  </a:lnTo>
                  <a:cubicBezTo>
                    <a:pt x="2888557" y="0"/>
                    <a:pt x="2929222" y="40666"/>
                    <a:pt x="2929222" y="90829"/>
                  </a:cubicBezTo>
                  <a:lnTo>
                    <a:pt x="2929222" y="734671"/>
                  </a:lnTo>
                  <a:cubicBezTo>
                    <a:pt x="2929222" y="784834"/>
                    <a:pt x="2888557" y="825500"/>
                    <a:pt x="2838393" y="825500"/>
                  </a:cubicBezTo>
                  <a:lnTo>
                    <a:pt x="90829" y="825500"/>
                  </a:lnTo>
                  <a:cubicBezTo>
                    <a:pt x="40666" y="825500"/>
                    <a:pt x="0" y="784834"/>
                    <a:pt x="0" y="734671"/>
                  </a:cubicBezTo>
                  <a:lnTo>
                    <a:pt x="0" y="90829"/>
                  </a:lnTo>
                  <a:cubicBezTo>
                    <a:pt x="0" y="40666"/>
                    <a:pt x="40666" y="0"/>
                    <a:pt x="90829" y="0"/>
                  </a:cubicBezTo>
                  <a:close/>
                </a:path>
              </a:pathLst>
            </a:custGeom>
            <a:solidFill>
              <a:srgbClr val="EEF6F7"/>
            </a:solidFill>
            <a:ln cap="sq">
              <a:noFill/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2929222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8403828" y="4831884"/>
            <a:ext cx="1197372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Objetivo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47725"/>
            <a:ext cx="16192500" cy="811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19"/>
              </a:lnSpc>
            </a:pPr>
            <a:r>
              <a:rPr lang="en-US" sz="48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2. Mecanismo de Funcionamiento y VRF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14500"/>
            <a:ext cx="1428750" cy="66675"/>
            <a:chOff x="0" y="0"/>
            <a:chExt cx="1905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05000" cy="88900"/>
            </a:xfrm>
            <a:custGeom>
              <a:avLst/>
              <a:gdLst/>
              <a:ahLst/>
              <a:cxnLst/>
              <a:rect r="r" b="b" t="t" l="l"/>
              <a:pathLst>
                <a:path h="88900" w="1905000">
                  <a:moveTo>
                    <a:pt x="44450" y="0"/>
                  </a:moveTo>
                  <a:lnTo>
                    <a:pt x="1860550" y="0"/>
                  </a:lnTo>
                  <a:cubicBezTo>
                    <a:pt x="1885099" y="0"/>
                    <a:pt x="1905000" y="19901"/>
                    <a:pt x="1905000" y="44450"/>
                  </a:cubicBezTo>
                  <a:lnTo>
                    <a:pt x="1905000" y="44450"/>
                  </a:lnTo>
                  <a:cubicBezTo>
                    <a:pt x="1905000" y="68999"/>
                    <a:pt x="1885099" y="88900"/>
                    <a:pt x="1860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905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8700" y="2476500"/>
            <a:ext cx="3667125" cy="5887420"/>
            <a:chOff x="0" y="0"/>
            <a:chExt cx="4889500" cy="784989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89500" cy="7849893"/>
            </a:xfrm>
            <a:custGeom>
              <a:avLst/>
              <a:gdLst/>
              <a:ahLst/>
              <a:cxnLst/>
              <a:rect r="r" b="b" t="t" l="l"/>
              <a:pathLst>
                <a:path h="7849893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7621293"/>
                  </a:lnTo>
                  <a:cubicBezTo>
                    <a:pt x="4889500" y="7747545"/>
                    <a:pt x="4787152" y="7849893"/>
                    <a:pt x="4660900" y="7849893"/>
                  </a:cubicBezTo>
                  <a:lnTo>
                    <a:pt x="228600" y="7849893"/>
                  </a:lnTo>
                  <a:cubicBezTo>
                    <a:pt x="167972" y="7849893"/>
                    <a:pt x="109826" y="7825808"/>
                    <a:pt x="66955" y="7782937"/>
                  </a:cubicBezTo>
                  <a:cubicBezTo>
                    <a:pt x="24085" y="7740067"/>
                    <a:pt x="0" y="7681922"/>
                    <a:pt x="0" y="7621293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89500" cy="7887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2476500"/>
            <a:ext cx="3667125" cy="95250"/>
            <a:chOff x="0" y="0"/>
            <a:chExt cx="4889500" cy="127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95400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95400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Cálculo y Asignación de Pesos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95400" y="4257675"/>
            <a:ext cx="3133725" cy="871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red calcula periódicamente el peso de cada nodo mediante una función multidimensional.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85887" y="5431957"/>
            <a:ext cx="3133725" cy="1000125"/>
            <a:chOff x="0" y="0"/>
            <a:chExt cx="4178300" cy="13335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783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78300">
                  <a:moveTo>
                    <a:pt x="152400" y="0"/>
                  </a:moveTo>
                  <a:lnTo>
                    <a:pt x="4025900" y="0"/>
                  </a:lnTo>
                  <a:cubicBezTo>
                    <a:pt x="4110068" y="0"/>
                    <a:pt x="4178300" y="68232"/>
                    <a:pt x="4178300" y="152400"/>
                  </a:cubicBezTo>
                  <a:lnTo>
                    <a:pt x="4178300" y="1181100"/>
                  </a:lnTo>
                  <a:cubicBezTo>
                    <a:pt x="4178300" y="1265268"/>
                    <a:pt x="4110068" y="1333500"/>
                    <a:pt x="4025900" y="1333500"/>
                  </a:cubicBezTo>
                  <a:lnTo>
                    <a:pt x="152400" y="1333500"/>
                  </a:lnTo>
                  <a:cubicBezTo>
                    <a:pt x="68232" y="1333500"/>
                    <a:pt x="0" y="1265268"/>
                    <a:pt x="0" y="1181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1783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447800" y="5436927"/>
            <a:ext cx="2828925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W = f(Tokens, Antigüedad, Almacenamiento, Actividad)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5247734" y="2541747"/>
            <a:ext cx="3667125" cy="5887420"/>
            <a:chOff x="0" y="0"/>
            <a:chExt cx="4889500" cy="784989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89500" cy="7849893"/>
            </a:xfrm>
            <a:custGeom>
              <a:avLst/>
              <a:gdLst/>
              <a:ahLst/>
              <a:cxnLst/>
              <a:rect r="r" b="b" t="t" l="l"/>
              <a:pathLst>
                <a:path h="7849893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7621293"/>
                  </a:lnTo>
                  <a:cubicBezTo>
                    <a:pt x="4889500" y="7747545"/>
                    <a:pt x="4787152" y="7849893"/>
                    <a:pt x="4660900" y="7849893"/>
                  </a:cubicBezTo>
                  <a:lnTo>
                    <a:pt x="228600" y="7849893"/>
                  </a:lnTo>
                  <a:cubicBezTo>
                    <a:pt x="167972" y="7849893"/>
                    <a:pt x="109826" y="7825808"/>
                    <a:pt x="66955" y="7782937"/>
                  </a:cubicBezTo>
                  <a:cubicBezTo>
                    <a:pt x="24085" y="7740067"/>
                    <a:pt x="0" y="7681922"/>
                    <a:pt x="0" y="7621293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4889500" cy="7887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238877" y="2476500"/>
            <a:ext cx="3667125" cy="95250"/>
            <a:chOff x="0" y="0"/>
            <a:chExt cx="4889500" cy="127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5505577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505577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Selección Criptográfica (VRF)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505577" y="4257675"/>
            <a:ext cx="3133725" cy="3824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7"/>
              </a:lnSpc>
            </a:pPr>
            <a:r>
              <a:rPr lang="en-US" sz="16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Se utilizan Funciones Pseudoaleatorias Verificables (VRF) para elegir líderes y comités de forma descentralizada y privada.</a:t>
            </a:r>
          </a:p>
          <a:p>
            <a:pPr algn="l">
              <a:lnSpc>
                <a:spcPts val="2377"/>
              </a:lnSpc>
            </a:pPr>
          </a:p>
          <a:p>
            <a:pPr algn="l">
              <a:lnSpc>
                <a:spcPts val="2377"/>
              </a:lnSpc>
            </a:pPr>
            <a:r>
              <a:rPr lang="en-US" sz="16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mayor peso, mayor probabilidad de selección.</a:t>
            </a:r>
          </a:p>
          <a:p>
            <a:pPr algn="l">
              <a:lnSpc>
                <a:spcPts val="2377"/>
              </a:lnSpc>
            </a:pPr>
          </a:p>
          <a:p>
            <a:pPr algn="l">
              <a:lnSpc>
                <a:spcPts val="2377"/>
              </a:lnSpc>
            </a:pPr>
            <a:r>
              <a:rPr lang="en-US" sz="16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identidad del proponente permanece oculta hasta revelar su prueba, evitando ataques dirigidos.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458325" y="2476500"/>
            <a:ext cx="3667125" cy="5887420"/>
            <a:chOff x="0" y="0"/>
            <a:chExt cx="4889500" cy="784989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889500" cy="7849893"/>
            </a:xfrm>
            <a:custGeom>
              <a:avLst/>
              <a:gdLst/>
              <a:ahLst/>
              <a:cxnLst/>
              <a:rect r="r" b="b" t="t" l="l"/>
              <a:pathLst>
                <a:path h="7849893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7621293"/>
                  </a:lnTo>
                  <a:cubicBezTo>
                    <a:pt x="4889500" y="7747545"/>
                    <a:pt x="4787152" y="7849893"/>
                    <a:pt x="4660900" y="7849893"/>
                  </a:cubicBezTo>
                  <a:lnTo>
                    <a:pt x="228600" y="7849893"/>
                  </a:lnTo>
                  <a:cubicBezTo>
                    <a:pt x="167972" y="7849893"/>
                    <a:pt x="109826" y="7825808"/>
                    <a:pt x="66955" y="7782937"/>
                  </a:cubicBezTo>
                  <a:cubicBezTo>
                    <a:pt x="24085" y="7740067"/>
                    <a:pt x="0" y="7681922"/>
                    <a:pt x="0" y="7621293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889500" cy="7887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458325" y="2476500"/>
            <a:ext cx="3667125" cy="95250"/>
            <a:chOff x="0" y="0"/>
            <a:chExt cx="4889500" cy="127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725025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25025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Propuesta y Votación Bizantina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25025" y="4257675"/>
            <a:ext cx="3133725" cy="2642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 líder propone el nuevo bloque acompañado de su certificado criptográfico VRF.</a:t>
            </a:r>
          </a:p>
          <a:p>
            <a:pPr algn="l">
              <a:lnSpc>
                <a:spcPts val="2380"/>
              </a:lnSpc>
            </a:pP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Un comité rotatorio de validadores valida el bloque mediante rondas rápidas de intercambio de mensajes de consenso.</a:t>
            </a:r>
          </a:p>
        </p:txBody>
      </p:sp>
      <p:sp>
        <p:nvSpPr>
          <p:cNvPr name="AutoShape 37" id="37"/>
          <p:cNvSpPr/>
          <p:nvPr/>
        </p:nvSpPr>
        <p:spPr>
          <a:xfrm flipV="true">
            <a:off x="13150363" y="5265896"/>
            <a:ext cx="416899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8" id="38"/>
          <p:cNvGrpSpPr/>
          <p:nvPr/>
        </p:nvGrpSpPr>
        <p:grpSpPr>
          <a:xfrm rot="0">
            <a:off x="13592175" y="2476500"/>
            <a:ext cx="3667125" cy="5887420"/>
            <a:chOff x="0" y="0"/>
            <a:chExt cx="4889500" cy="784989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889500" cy="7849893"/>
            </a:xfrm>
            <a:custGeom>
              <a:avLst/>
              <a:gdLst/>
              <a:ahLst/>
              <a:cxnLst/>
              <a:rect r="r" b="b" t="t" l="l"/>
              <a:pathLst>
                <a:path h="7849893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7621293"/>
                  </a:lnTo>
                  <a:cubicBezTo>
                    <a:pt x="4889500" y="7747545"/>
                    <a:pt x="4787152" y="7849893"/>
                    <a:pt x="4660900" y="7849893"/>
                  </a:cubicBezTo>
                  <a:lnTo>
                    <a:pt x="228600" y="7849893"/>
                  </a:lnTo>
                  <a:cubicBezTo>
                    <a:pt x="167972" y="7849893"/>
                    <a:pt x="109826" y="7825808"/>
                    <a:pt x="66955" y="7782937"/>
                  </a:cubicBezTo>
                  <a:cubicBezTo>
                    <a:pt x="24085" y="7740067"/>
                    <a:pt x="0" y="7681922"/>
                    <a:pt x="0" y="7621293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4889500" cy="78879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592175" y="2476500"/>
            <a:ext cx="3667125" cy="95250"/>
            <a:chOff x="0" y="0"/>
            <a:chExt cx="4889500" cy="127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3801961" y="2667317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858875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Finalidad Determinista Inmediata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858875" y="4379762"/>
            <a:ext cx="3133725" cy="205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Al alcanzarse el quórum de votos necesario (tolerancia a fallos bizantinos), el bloque se añade de forma irreversible al registro.</a:t>
            </a:r>
          </a:p>
          <a:p>
            <a:pPr algn="l">
              <a:lnSpc>
                <a:spcPts val="2380"/>
              </a:lnSpc>
            </a:pP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Elimina el riesgo de bifurcaciones (forks).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47750" y="8644298"/>
            <a:ext cx="16192500" cy="690202"/>
            <a:chOff x="0" y="0"/>
            <a:chExt cx="21590000" cy="9202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590000" cy="920270"/>
            </a:xfrm>
            <a:custGeom>
              <a:avLst/>
              <a:gdLst/>
              <a:ahLst/>
              <a:cxnLst/>
              <a:rect r="r" b="b" t="t" l="l"/>
              <a:pathLst>
                <a:path h="92027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717070"/>
                  </a:lnTo>
                  <a:cubicBezTo>
                    <a:pt x="21590000" y="829294"/>
                    <a:pt x="21499024" y="920270"/>
                    <a:pt x="21386800" y="920270"/>
                  </a:cubicBezTo>
                  <a:lnTo>
                    <a:pt x="203200" y="920270"/>
                  </a:lnTo>
                  <a:cubicBezTo>
                    <a:pt x="149308" y="920270"/>
                    <a:pt x="97623" y="898861"/>
                    <a:pt x="59516" y="860754"/>
                  </a:cubicBezTo>
                  <a:cubicBezTo>
                    <a:pt x="21409" y="822646"/>
                    <a:pt x="0" y="770962"/>
                    <a:pt x="0" y="71707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  <a:ln w="19050" cap="sq">
              <a:solidFill>
                <a:srgbClr val="22C7D6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21590000" cy="9583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1314450" y="8843963"/>
            <a:ext cx="16383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CONCEPTO CLAVE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3976688" y="8834438"/>
            <a:ext cx="11196701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La VRF garantiza aleatoriedad justa proporcional al peso y seguridad frente a ataques DoS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04/12</a:t>
            </a:r>
          </a:p>
        </p:txBody>
      </p:sp>
      <p:sp>
        <p:nvSpPr>
          <p:cNvPr name="AutoShape 53" id="53"/>
          <p:cNvSpPr/>
          <p:nvPr/>
        </p:nvSpPr>
        <p:spPr>
          <a:xfrm flipV="true">
            <a:off x="8978142" y="5284946"/>
            <a:ext cx="416899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4" id="54"/>
          <p:cNvSpPr/>
          <p:nvPr/>
        </p:nvSpPr>
        <p:spPr>
          <a:xfrm flipV="true">
            <a:off x="4764160" y="5284946"/>
            <a:ext cx="416899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096375" y="1659255"/>
            <a:ext cx="8334375" cy="7667625"/>
            <a:chOff x="0" y="0"/>
            <a:chExt cx="11112500" cy="1022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12500" cy="10223500"/>
            </a:xfrm>
            <a:custGeom>
              <a:avLst/>
              <a:gdLst/>
              <a:ahLst/>
              <a:cxnLst/>
              <a:rect r="r" b="b" t="t" l="l"/>
              <a:pathLst>
                <a:path h="10223500" w="11112500">
                  <a:moveTo>
                    <a:pt x="304800" y="0"/>
                  </a:moveTo>
                  <a:lnTo>
                    <a:pt x="10807700" y="0"/>
                  </a:lnTo>
                  <a:cubicBezTo>
                    <a:pt x="10976036" y="0"/>
                    <a:pt x="11112500" y="136464"/>
                    <a:pt x="11112500" y="304800"/>
                  </a:cubicBezTo>
                  <a:lnTo>
                    <a:pt x="11112500" y="9918700"/>
                  </a:lnTo>
                  <a:cubicBezTo>
                    <a:pt x="11112500" y="10087036"/>
                    <a:pt x="10976036" y="10223500"/>
                    <a:pt x="10807700" y="10223500"/>
                  </a:cubicBezTo>
                  <a:lnTo>
                    <a:pt x="304800" y="10223500"/>
                  </a:lnTo>
                  <a:cubicBezTo>
                    <a:pt x="136464" y="10223500"/>
                    <a:pt x="0" y="10087036"/>
                    <a:pt x="0" y="99187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EF6F7"/>
            </a:solidFill>
            <a:ln w="19050" cap="rnd">
              <a:solidFill>
                <a:srgbClr val="D4E7EA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112500" cy="1026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382125" y="1849755"/>
            <a:ext cx="7715250" cy="7114019"/>
          </a:xfrm>
          <a:custGeom>
            <a:avLst/>
            <a:gdLst/>
            <a:ahLst/>
            <a:cxnLst/>
            <a:rect r="r" b="b" t="t" l="l"/>
            <a:pathLst>
              <a:path h="7114019" w="7715250">
                <a:moveTo>
                  <a:pt x="0" y="0"/>
                </a:moveTo>
                <a:lnTo>
                  <a:pt x="7715250" y="0"/>
                </a:lnTo>
                <a:lnTo>
                  <a:pt x="7715250" y="7114019"/>
                </a:lnTo>
                <a:lnTo>
                  <a:pt x="0" y="71140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51" t="-23" r="0" b="-23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47750" y="847725"/>
            <a:ext cx="16192500" cy="811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19"/>
              </a:lnSpc>
            </a:pPr>
            <a:r>
              <a:rPr lang="en-US" sz="48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3. Lotería Ponderada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02840"/>
            <a:ext cx="6477000" cy="1883410"/>
            <a:chOff x="0" y="0"/>
            <a:chExt cx="8636000" cy="25112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36000" cy="2511213"/>
            </a:xfrm>
            <a:custGeom>
              <a:avLst/>
              <a:gdLst/>
              <a:ahLst/>
              <a:cxnLst/>
              <a:rect r="r" b="b" t="t" l="l"/>
              <a:pathLst>
                <a:path h="2511213" w="8636000">
                  <a:moveTo>
                    <a:pt x="203200" y="0"/>
                  </a:moveTo>
                  <a:lnTo>
                    <a:pt x="8432800" y="0"/>
                  </a:lnTo>
                  <a:cubicBezTo>
                    <a:pt x="8545024" y="0"/>
                    <a:pt x="8636000" y="90976"/>
                    <a:pt x="8636000" y="203200"/>
                  </a:cubicBezTo>
                  <a:lnTo>
                    <a:pt x="8636000" y="2308013"/>
                  </a:lnTo>
                  <a:cubicBezTo>
                    <a:pt x="8636000" y="2420238"/>
                    <a:pt x="8545024" y="2511213"/>
                    <a:pt x="8432800" y="2511213"/>
                  </a:cubicBezTo>
                  <a:lnTo>
                    <a:pt x="203200" y="2511213"/>
                  </a:lnTo>
                  <a:cubicBezTo>
                    <a:pt x="149308" y="2511213"/>
                    <a:pt x="97623" y="2489805"/>
                    <a:pt x="59516" y="2451697"/>
                  </a:cubicBezTo>
                  <a:cubicBezTo>
                    <a:pt x="21409" y="2413590"/>
                    <a:pt x="0" y="2361905"/>
                    <a:pt x="0" y="2308013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636000" cy="25493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47750" y="2326640"/>
            <a:ext cx="6477000" cy="76200"/>
            <a:chOff x="0" y="0"/>
            <a:chExt cx="8636000" cy="101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636000" cy="101600"/>
            </a:xfrm>
            <a:custGeom>
              <a:avLst/>
              <a:gdLst/>
              <a:ahLst/>
              <a:cxnLst/>
              <a:rect r="r" b="b" t="t" l="l"/>
              <a:pathLst>
                <a:path h="101600" w="8636000">
                  <a:moveTo>
                    <a:pt x="50800" y="0"/>
                  </a:moveTo>
                  <a:lnTo>
                    <a:pt x="8585200" y="0"/>
                  </a:lnTo>
                  <a:cubicBezTo>
                    <a:pt x="8613256" y="0"/>
                    <a:pt x="8636000" y="22744"/>
                    <a:pt x="8636000" y="50800"/>
                  </a:cubicBezTo>
                  <a:lnTo>
                    <a:pt x="8636000" y="50800"/>
                  </a:lnTo>
                  <a:cubicBezTo>
                    <a:pt x="8636000" y="78856"/>
                    <a:pt x="8613256" y="101600"/>
                    <a:pt x="8585200" y="101600"/>
                  </a:cubicBezTo>
                  <a:lnTo>
                    <a:pt x="50800" y="101600"/>
                  </a:lnTo>
                  <a:cubicBezTo>
                    <a:pt x="22744" y="101600"/>
                    <a:pt x="0" y="78856"/>
                    <a:pt x="0" y="50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6360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47750" y="2008505"/>
            <a:ext cx="58102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169FB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PROBABILIDAD INDIVIDUAL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76375" y="2593340"/>
            <a:ext cx="581025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0F233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P(i) = W(i) / W(total)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76375" y="3402330"/>
            <a:ext cx="5619750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1599">
                <a:solidFill>
                  <a:srgbClr val="77859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probabilidad de liderar el bloque es estrictamente proporcional al peso relativo del nodo en la red.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47750" y="4524375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0" y="368300"/>
                  </a:moveTo>
                  <a:cubicBezTo>
                    <a:pt x="0" y="571706"/>
                    <a:pt x="164894" y="736600"/>
                    <a:pt x="368300" y="736600"/>
                  </a:cubicBezTo>
                  <a:cubicBezTo>
                    <a:pt x="571706" y="736600"/>
                    <a:pt x="736600" y="571706"/>
                    <a:pt x="736600" y="368300"/>
                  </a:cubicBezTo>
                  <a:cubicBezTo>
                    <a:pt x="736600" y="164894"/>
                    <a:pt x="571706" y="0"/>
                    <a:pt x="368300" y="0"/>
                  </a:cubicBezTo>
                  <a:cubicBezTo>
                    <a:pt x="164894" y="0"/>
                    <a:pt x="0" y="164894"/>
                    <a:pt x="0" y="368300"/>
                  </a:cubicBezTo>
                  <a:close/>
                </a:path>
              </a:pathLst>
            </a:custGeom>
            <a:ln w="19050" cap="sq">
              <a:solidFill>
                <a:srgbClr val="169FB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47750" y="4648200"/>
            <a:ext cx="5524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b="true" sz="1400" strike="noStrike" u="none">
                <a:solidFill>
                  <a:srgbClr val="169FB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▣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809750" y="4505325"/>
            <a:ext cx="63817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0F233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Evaluación Privada y Local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09750" y="4781550"/>
            <a:ext cx="6381750" cy="515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9"/>
              </a:lnSpc>
            </a:pPr>
            <a:r>
              <a:rPr lang="en-US" sz="1449">
                <a:solidFill>
                  <a:srgbClr val="77859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 sorteo se computa de forma interna en cada nodo mediante VRF, sin generar tráfico ni revelar al líder antes de tiempo.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47750" y="6191250"/>
            <a:ext cx="552450" cy="552450"/>
            <a:chOff x="0" y="0"/>
            <a:chExt cx="736600" cy="736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0" y="368300"/>
                  </a:moveTo>
                  <a:cubicBezTo>
                    <a:pt x="0" y="571706"/>
                    <a:pt x="164894" y="736600"/>
                    <a:pt x="368300" y="736600"/>
                  </a:cubicBezTo>
                  <a:cubicBezTo>
                    <a:pt x="571706" y="736600"/>
                    <a:pt x="736600" y="571706"/>
                    <a:pt x="736600" y="368300"/>
                  </a:cubicBezTo>
                  <a:cubicBezTo>
                    <a:pt x="736600" y="164894"/>
                    <a:pt x="571706" y="0"/>
                    <a:pt x="368300" y="0"/>
                  </a:cubicBezTo>
                  <a:cubicBezTo>
                    <a:pt x="164894" y="0"/>
                    <a:pt x="0" y="164894"/>
                    <a:pt x="0" y="368300"/>
                  </a:cubicBezTo>
                  <a:close/>
                </a:path>
              </a:pathLst>
            </a:custGeom>
            <a:ln w="19050" cap="sq">
              <a:solidFill>
                <a:srgbClr val="2F7F83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047750" y="6315075"/>
            <a:ext cx="5524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b="true" sz="1400" strike="noStrike" u="non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⚖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09750" y="6172200"/>
            <a:ext cx="63817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0F233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Distribución Equitativa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09750" y="6448425"/>
            <a:ext cx="6381750" cy="515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9"/>
              </a:lnSpc>
            </a:pPr>
            <a:r>
              <a:rPr lang="en-US" sz="1449">
                <a:solidFill>
                  <a:srgbClr val="778590"/>
                </a:solidFill>
                <a:latin typeface="Source Sans 3"/>
                <a:ea typeface="Source Sans 3"/>
                <a:cs typeface="Source Sans 3"/>
                <a:sym typeface="Source Sans 3"/>
              </a:rPr>
              <a:t>Garantiza justicia matemática: tener el 50% del peso otorga el 50% de probabilidad, sin excluir a nodos con menor contribución (20%).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47750" y="7858125"/>
            <a:ext cx="552450" cy="552450"/>
            <a:chOff x="0" y="0"/>
            <a:chExt cx="736600" cy="736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0" y="368300"/>
                  </a:moveTo>
                  <a:cubicBezTo>
                    <a:pt x="0" y="571706"/>
                    <a:pt x="164894" y="736600"/>
                    <a:pt x="368300" y="736600"/>
                  </a:cubicBezTo>
                  <a:cubicBezTo>
                    <a:pt x="571706" y="736600"/>
                    <a:pt x="736600" y="571706"/>
                    <a:pt x="736600" y="368300"/>
                  </a:cubicBezTo>
                  <a:cubicBezTo>
                    <a:pt x="736600" y="164894"/>
                    <a:pt x="571706" y="0"/>
                    <a:pt x="368300" y="0"/>
                  </a:cubicBezTo>
                  <a:cubicBezTo>
                    <a:pt x="164894" y="0"/>
                    <a:pt x="0" y="164894"/>
                    <a:pt x="0" y="368300"/>
                  </a:cubicBezTo>
                  <a:close/>
                </a:path>
              </a:pathLst>
            </a:custGeom>
            <a:ln w="19050" cap="sq">
              <a:solidFill>
                <a:srgbClr val="169FB8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047750" y="7981950"/>
            <a:ext cx="5524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b="true" sz="1400" strike="noStrike" u="none">
                <a:solidFill>
                  <a:srgbClr val="169FB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⬡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9750" y="7839075"/>
            <a:ext cx="63817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0F2335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Protección Anti-DoS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809750" y="8115300"/>
            <a:ext cx="6381750" cy="515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9"/>
              </a:lnSpc>
            </a:pPr>
            <a:r>
              <a:rPr lang="en-US" sz="1449">
                <a:solidFill>
                  <a:srgbClr val="778590"/>
                </a:solidFill>
                <a:latin typeface="Source Sans 3"/>
                <a:ea typeface="Source Sans 3"/>
                <a:cs typeface="Source Sans 3"/>
                <a:sym typeface="Source Sans 3"/>
              </a:rPr>
              <a:t>Al no poder predecir quién será el proponente de cada turno, se neutralizan ataques de denegación de servicio selectivos.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47750" y="1714500"/>
            <a:ext cx="1428750" cy="66675"/>
            <a:chOff x="0" y="0"/>
            <a:chExt cx="1905000" cy="889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905000" cy="88900"/>
            </a:xfrm>
            <a:custGeom>
              <a:avLst/>
              <a:gdLst/>
              <a:ahLst/>
              <a:cxnLst/>
              <a:rect r="r" b="b" t="t" l="l"/>
              <a:pathLst>
                <a:path h="88900" w="1905000">
                  <a:moveTo>
                    <a:pt x="44450" y="0"/>
                  </a:moveTo>
                  <a:lnTo>
                    <a:pt x="1860550" y="0"/>
                  </a:lnTo>
                  <a:cubicBezTo>
                    <a:pt x="1885099" y="0"/>
                    <a:pt x="1905000" y="19901"/>
                    <a:pt x="1905000" y="44450"/>
                  </a:cubicBezTo>
                  <a:lnTo>
                    <a:pt x="1905000" y="44450"/>
                  </a:lnTo>
                  <a:cubicBezTo>
                    <a:pt x="1905000" y="68999"/>
                    <a:pt x="1885099" y="88900"/>
                    <a:pt x="1860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905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05/12</a:t>
            </a:r>
          </a:p>
        </p:txBody>
      </p:sp>
      <p:grpSp>
        <p:nvGrpSpPr>
          <p:cNvPr name="Group 38" id="38"/>
          <p:cNvGrpSpPr/>
          <p:nvPr/>
        </p:nvGrpSpPr>
        <p:grpSpPr>
          <a:xfrm rot="5400000">
            <a:off x="5384785" y="5409580"/>
            <a:ext cx="7607935" cy="89505"/>
            <a:chOff x="0" y="0"/>
            <a:chExt cx="8636000" cy="101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636000" cy="101600"/>
            </a:xfrm>
            <a:custGeom>
              <a:avLst/>
              <a:gdLst/>
              <a:ahLst/>
              <a:cxnLst/>
              <a:rect r="r" b="b" t="t" l="l"/>
              <a:pathLst>
                <a:path h="101600" w="8636000">
                  <a:moveTo>
                    <a:pt x="43248" y="0"/>
                  </a:moveTo>
                  <a:lnTo>
                    <a:pt x="8592751" y="0"/>
                  </a:lnTo>
                  <a:cubicBezTo>
                    <a:pt x="8604222" y="0"/>
                    <a:pt x="8615222" y="4557"/>
                    <a:pt x="8623333" y="12667"/>
                  </a:cubicBezTo>
                  <a:cubicBezTo>
                    <a:pt x="8631444" y="20778"/>
                    <a:pt x="8636000" y="31778"/>
                    <a:pt x="8636000" y="43248"/>
                  </a:cubicBezTo>
                  <a:lnTo>
                    <a:pt x="8636000" y="58352"/>
                  </a:lnTo>
                  <a:cubicBezTo>
                    <a:pt x="8636000" y="69822"/>
                    <a:pt x="8631444" y="80822"/>
                    <a:pt x="8623333" y="88933"/>
                  </a:cubicBezTo>
                  <a:cubicBezTo>
                    <a:pt x="8615222" y="97043"/>
                    <a:pt x="8604222" y="101600"/>
                    <a:pt x="8592751" y="101600"/>
                  </a:cubicBezTo>
                  <a:lnTo>
                    <a:pt x="43248" y="101600"/>
                  </a:lnTo>
                  <a:cubicBezTo>
                    <a:pt x="31778" y="101600"/>
                    <a:pt x="20778" y="97043"/>
                    <a:pt x="12667" y="88933"/>
                  </a:cubicBezTo>
                  <a:cubicBezTo>
                    <a:pt x="4557" y="80822"/>
                    <a:pt x="0" y="69822"/>
                    <a:pt x="0" y="58352"/>
                  </a:cubicBezTo>
                  <a:lnTo>
                    <a:pt x="0" y="43248"/>
                  </a:lnTo>
                  <a:cubicBezTo>
                    <a:pt x="0" y="31778"/>
                    <a:pt x="4557" y="20778"/>
                    <a:pt x="12667" y="12667"/>
                  </a:cubicBezTo>
                  <a:cubicBezTo>
                    <a:pt x="20778" y="4557"/>
                    <a:pt x="31778" y="0"/>
                    <a:pt x="43248" y="0"/>
                  </a:cubicBezTo>
                  <a:close/>
                </a:path>
              </a:pathLst>
            </a:custGeom>
            <a:solidFill>
              <a:srgbClr val="169FB8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86360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4. Ventajas e Inconvenientes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476500"/>
            <a:ext cx="7572375" cy="5334000"/>
            <a:chOff x="0" y="0"/>
            <a:chExt cx="10096500" cy="711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096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6883400"/>
                  </a:lnTo>
                  <a:cubicBezTo>
                    <a:pt x="10096500" y="7009652"/>
                    <a:pt x="9994152" y="7112000"/>
                    <a:pt x="9867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0096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67875" y="2476500"/>
            <a:ext cx="7572375" cy="5334000"/>
            <a:chOff x="0" y="0"/>
            <a:chExt cx="10096500" cy="7112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96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6883400"/>
                  </a:lnTo>
                  <a:cubicBezTo>
                    <a:pt x="10096500" y="7009652"/>
                    <a:pt x="9994152" y="7112000"/>
                    <a:pt x="9867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0096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47750" y="2476500"/>
            <a:ext cx="7572375" cy="781050"/>
            <a:chOff x="0" y="0"/>
            <a:chExt cx="10096500" cy="1041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096500" cy="1041400"/>
            </a:xfrm>
            <a:custGeom>
              <a:avLst/>
              <a:gdLst/>
              <a:ahLst/>
              <a:cxnLst/>
              <a:rect r="r" b="b" t="t" l="l"/>
              <a:pathLst>
                <a:path h="10414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812800"/>
                  </a:lnTo>
                  <a:cubicBezTo>
                    <a:pt x="10096500" y="939052"/>
                    <a:pt x="9994152" y="1041400"/>
                    <a:pt x="9867900" y="1041400"/>
                  </a:cubicBezTo>
                  <a:lnTo>
                    <a:pt x="228600" y="1041400"/>
                  </a:lnTo>
                  <a:cubicBezTo>
                    <a:pt x="102348" y="1041400"/>
                    <a:pt x="0" y="939052"/>
                    <a:pt x="0" y="8128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0096500" cy="1079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67875" y="2476500"/>
            <a:ext cx="7572375" cy="781050"/>
            <a:chOff x="0" y="0"/>
            <a:chExt cx="10096500" cy="1041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96500" cy="1041400"/>
            </a:xfrm>
            <a:custGeom>
              <a:avLst/>
              <a:gdLst/>
              <a:ahLst/>
              <a:cxnLst/>
              <a:rect r="r" b="b" t="t" l="l"/>
              <a:pathLst>
                <a:path h="10414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812800"/>
                  </a:lnTo>
                  <a:cubicBezTo>
                    <a:pt x="10096500" y="939052"/>
                    <a:pt x="9994152" y="1041400"/>
                    <a:pt x="9867900" y="1041400"/>
                  </a:cubicBezTo>
                  <a:lnTo>
                    <a:pt x="228600" y="1041400"/>
                  </a:lnTo>
                  <a:cubicBezTo>
                    <a:pt x="102348" y="1041400"/>
                    <a:pt x="0" y="939052"/>
                    <a:pt x="0" y="8128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DF4F3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096500" cy="1079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476375" y="2714625"/>
            <a:ext cx="4762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VENTAJAS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96500" y="2714625"/>
            <a:ext cx="57150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INCONVENIENTES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76375" y="37909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95500" y="38385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Sostenibilidad energética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76375" y="483870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095500" y="488632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Mayor democratización frente al capital puro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76375" y="58864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95500" y="59340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Alta escalabilidad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096500" y="37909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715625" y="38385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Complejidad criptográfica de auditoría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96500" y="483870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715625" y="4886325"/>
            <a:ext cx="5905500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Riesgo de sesgo histórico (efecto bola de nieve)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096500" y="58864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715625" y="5934075"/>
            <a:ext cx="5905500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Necesidad de penalizaciones estrictas (slashing)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06/12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5. Seguridad y Principales Ataques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571750"/>
            <a:ext cx="7524750" cy="2190750"/>
            <a:chOff x="0" y="0"/>
            <a:chExt cx="10033000" cy="292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47750" y="2571750"/>
            <a:ext cx="95250" cy="2190750"/>
            <a:chOff x="0" y="0"/>
            <a:chExt cx="127000" cy="2921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81125" y="280987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286000" y="289560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ATAQUES DE MAYORÍA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286000" y="346710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&gt;33%</a:t>
            </a: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 puede paralizar la liveness; </a:t>
            </a:r>
          </a:p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&gt;51%</a:t>
            </a: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 permite reorganización.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34500" y="2571750"/>
            <a:ext cx="7524750" cy="2190750"/>
            <a:chOff x="0" y="0"/>
            <a:chExt cx="10033000" cy="2921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34500" y="2571750"/>
            <a:ext cx="95250" cy="2190750"/>
            <a:chOff x="0" y="0"/>
            <a:chExt cx="127000" cy="2921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67875" y="280987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572750" y="289560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CORRUPCIÓN DE LÍDERES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572750" y="3467100"/>
            <a:ext cx="5985531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</a:t>
            </a: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VRF</a:t>
            </a: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 mitiga el riesgo ocultando las identidades hasta la selección.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47750" y="5334000"/>
            <a:ext cx="7524750" cy="2190750"/>
            <a:chOff x="0" y="0"/>
            <a:chExt cx="10033000" cy="292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47750" y="5334000"/>
            <a:ext cx="95250" cy="2190750"/>
            <a:chOff x="0" y="0"/>
            <a:chExt cx="127000" cy="2921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381125" y="557212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86000" y="565785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MANIPULACIÓN DE PESO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286000" y="622935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Weight Grinding</a:t>
            </a: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 ⟶ alterar entradas para influir en el resultado.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334500" y="5334000"/>
            <a:ext cx="7524750" cy="2190750"/>
            <a:chOff x="0" y="0"/>
            <a:chExt cx="10033000" cy="2921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334500" y="5334000"/>
            <a:ext cx="95250" cy="2190750"/>
            <a:chOff x="0" y="0"/>
            <a:chExt cx="127000" cy="2921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667875" y="557212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572750" y="565785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INACTIVIDAD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572750" y="622935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Nothing at Stake </a:t>
            </a: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⟶ participar en varias ramas sin coste suficiente.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07/12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6. Casos de Uso en Tecnologías DLT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857500"/>
            <a:ext cx="4762500" cy="4476750"/>
            <a:chOff x="0" y="0"/>
            <a:chExt cx="6350000" cy="5969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47750" y="2857500"/>
            <a:ext cx="4762500" cy="114300"/>
            <a:chOff x="0" y="0"/>
            <a:chExt cx="6350000" cy="152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811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11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ALGORAND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811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PPoS con comités ponderados por balance y VRF.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477000" y="2857500"/>
            <a:ext cx="4762500" cy="4476750"/>
            <a:chOff x="0" y="0"/>
            <a:chExt cx="6350000" cy="5969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477000" y="2857500"/>
            <a:ext cx="4762500" cy="114300"/>
            <a:chOff x="0" y="0"/>
            <a:chExt cx="6350000" cy="152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681037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81037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FILECOIN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810375" y="4810125"/>
            <a:ext cx="4000500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Peso según capacidad de almacenamiento persistente verificado (Storage Power).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47750" y="2857500"/>
            <a:ext cx="4762500" cy="4476750"/>
            <a:chOff x="0" y="0"/>
            <a:chExt cx="6350000" cy="5969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47750" y="2857500"/>
            <a:ext cx="4762500" cy="114300"/>
            <a:chOff x="0" y="0"/>
            <a:chExt cx="6350000" cy="152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3811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811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ALGORAND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811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PPoS con comités ponderados por balance y VRF.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6477000" y="2857500"/>
            <a:ext cx="4762500" cy="4476750"/>
            <a:chOff x="0" y="0"/>
            <a:chExt cx="6350000" cy="5969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477000" y="2857500"/>
            <a:ext cx="4762500" cy="114300"/>
            <a:chOff x="0" y="0"/>
            <a:chExt cx="6350000" cy="1524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681037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81037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FILECOIN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6810375" y="4810125"/>
            <a:ext cx="4000500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Peso según capacidad de almacenamiento persistente verificado (Storage Power).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906250" y="2857500"/>
            <a:ext cx="4762500" cy="4476750"/>
            <a:chOff x="0" y="0"/>
            <a:chExt cx="6350000" cy="59690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1906250" y="2857500"/>
            <a:ext cx="4762500" cy="114300"/>
            <a:chOff x="0" y="0"/>
            <a:chExt cx="6350000" cy="1524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22396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2396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CHIA NETWORK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22396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Filosofía basada en espacio en disco (Proof of Space and Time).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08/12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7. Simulación Experimental y Metodología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832685" y="1967902"/>
            <a:ext cx="9502440" cy="777423"/>
            <a:chOff x="0" y="0"/>
            <a:chExt cx="12669920" cy="103656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669920" cy="1036564"/>
            </a:xfrm>
            <a:custGeom>
              <a:avLst/>
              <a:gdLst/>
              <a:ahLst/>
              <a:cxnLst/>
              <a:rect r="r" b="b" t="t" l="l"/>
              <a:pathLst>
                <a:path h="1036564" w="12669920">
                  <a:moveTo>
                    <a:pt x="139777" y="0"/>
                  </a:moveTo>
                  <a:lnTo>
                    <a:pt x="12530144" y="0"/>
                  </a:lnTo>
                  <a:cubicBezTo>
                    <a:pt x="12607340" y="0"/>
                    <a:pt x="12669920" y="62580"/>
                    <a:pt x="12669920" y="139777"/>
                  </a:cubicBezTo>
                  <a:lnTo>
                    <a:pt x="12669920" y="896787"/>
                  </a:lnTo>
                  <a:cubicBezTo>
                    <a:pt x="12669920" y="933859"/>
                    <a:pt x="12655194" y="969411"/>
                    <a:pt x="12628981" y="995625"/>
                  </a:cubicBezTo>
                  <a:cubicBezTo>
                    <a:pt x="12602767" y="1021838"/>
                    <a:pt x="12567214" y="1036564"/>
                    <a:pt x="12530144" y="1036564"/>
                  </a:cubicBezTo>
                  <a:lnTo>
                    <a:pt x="139777" y="1036564"/>
                  </a:lnTo>
                  <a:cubicBezTo>
                    <a:pt x="62580" y="1036564"/>
                    <a:pt x="0" y="973984"/>
                    <a:pt x="0" y="896787"/>
                  </a:cubicBezTo>
                  <a:lnTo>
                    <a:pt x="0" y="139777"/>
                  </a:lnTo>
                  <a:cubicBezTo>
                    <a:pt x="0" y="62580"/>
                    <a:pt x="62580" y="0"/>
                    <a:pt x="139777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2669920" cy="10746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832685" y="2087374"/>
            <a:ext cx="950244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W = 50% tokens + 20% antigüedad + 30% almacenamiento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441738" y="3193000"/>
            <a:ext cx="9525000" cy="3422955"/>
            <a:chOff x="0" y="0"/>
            <a:chExt cx="12700000" cy="456394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00000" cy="4563941"/>
            </a:xfrm>
            <a:custGeom>
              <a:avLst/>
              <a:gdLst/>
              <a:ahLst/>
              <a:cxnLst/>
              <a:rect r="r" b="b" t="t" l="l"/>
              <a:pathLst>
                <a:path h="4563941" w="12700000">
                  <a:moveTo>
                    <a:pt x="228600" y="0"/>
                  </a:moveTo>
                  <a:lnTo>
                    <a:pt x="12471400" y="0"/>
                  </a:lnTo>
                  <a:cubicBezTo>
                    <a:pt x="12597652" y="0"/>
                    <a:pt x="12700000" y="102348"/>
                    <a:pt x="12700000" y="228600"/>
                  </a:cubicBezTo>
                  <a:lnTo>
                    <a:pt x="12700000" y="4335341"/>
                  </a:lnTo>
                  <a:cubicBezTo>
                    <a:pt x="12700000" y="4461593"/>
                    <a:pt x="12597652" y="4563941"/>
                    <a:pt x="12471400" y="4563941"/>
                  </a:cubicBezTo>
                  <a:lnTo>
                    <a:pt x="228600" y="4563941"/>
                  </a:lnTo>
                  <a:cubicBezTo>
                    <a:pt x="167972" y="4563941"/>
                    <a:pt x="109826" y="4539856"/>
                    <a:pt x="66955" y="4496986"/>
                  </a:cubicBezTo>
                  <a:cubicBezTo>
                    <a:pt x="24085" y="4454115"/>
                    <a:pt x="0" y="4395969"/>
                    <a:pt x="0" y="4335341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2700000" cy="4602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70363" y="3507325"/>
            <a:ext cx="66675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Diseño experimental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70363" y="4193125"/>
            <a:ext cx="7905750" cy="217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Función de peso multidimensional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Configuración de 4 nodos heterogéneos: Nodo A a Nodo D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Simulación de 1.000 rondas de lotería ponderada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322117" y="4146606"/>
            <a:ext cx="1428750" cy="619125"/>
            <a:chOff x="0" y="0"/>
            <a:chExt cx="1905000" cy="8255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0322117" y="4257731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A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322367" y="4146606"/>
            <a:ext cx="1428750" cy="619125"/>
            <a:chOff x="0" y="0"/>
            <a:chExt cx="1905000" cy="8255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2322367" y="4257731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B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4322617" y="4146606"/>
            <a:ext cx="1428750" cy="619125"/>
            <a:chOff x="0" y="0"/>
            <a:chExt cx="1905000" cy="8255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4322617" y="4257731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C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6322867" y="4146606"/>
            <a:ext cx="1428750" cy="619125"/>
            <a:chOff x="0" y="0"/>
            <a:chExt cx="1905000" cy="8255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6322867" y="4257731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322117" y="4918131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150 tokens 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15 días 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50 GB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322367" y="4918131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450 tokens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45 días 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250 GB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322617" y="4918131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900 tokens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 120 días 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600 GB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6322867" y="4918131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1800 tokens 240 días</a:t>
            </a:r>
          </a:p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1500 GB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6536451" y="7711331"/>
            <a:ext cx="5386041" cy="1896577"/>
            <a:chOff x="0" y="0"/>
            <a:chExt cx="7181389" cy="252876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81389" cy="2528769"/>
            </a:xfrm>
            <a:custGeom>
              <a:avLst/>
              <a:gdLst/>
              <a:ahLst/>
              <a:cxnLst/>
              <a:rect r="r" b="b" t="t" l="l"/>
              <a:pathLst>
                <a:path h="2528769" w="7181389">
                  <a:moveTo>
                    <a:pt x="246605" y="0"/>
                  </a:moveTo>
                  <a:lnTo>
                    <a:pt x="6934784" y="0"/>
                  </a:lnTo>
                  <a:cubicBezTo>
                    <a:pt x="7070980" y="0"/>
                    <a:pt x="7181389" y="110409"/>
                    <a:pt x="7181389" y="246605"/>
                  </a:cubicBezTo>
                  <a:lnTo>
                    <a:pt x="7181389" y="2282164"/>
                  </a:lnTo>
                  <a:cubicBezTo>
                    <a:pt x="7181389" y="2347568"/>
                    <a:pt x="7155407" y="2410293"/>
                    <a:pt x="7109160" y="2456540"/>
                  </a:cubicBezTo>
                  <a:cubicBezTo>
                    <a:pt x="7062912" y="2502787"/>
                    <a:pt x="7000187" y="2528769"/>
                    <a:pt x="6934784" y="2528769"/>
                  </a:cubicBezTo>
                  <a:lnTo>
                    <a:pt x="246605" y="2528769"/>
                  </a:lnTo>
                  <a:cubicBezTo>
                    <a:pt x="181201" y="2528769"/>
                    <a:pt x="118476" y="2502787"/>
                    <a:pt x="72229" y="2456540"/>
                  </a:cubicBezTo>
                  <a:cubicBezTo>
                    <a:pt x="25981" y="2410293"/>
                    <a:pt x="0" y="2347568"/>
                    <a:pt x="0" y="2282164"/>
                  </a:cubicBezTo>
                  <a:lnTo>
                    <a:pt x="0" y="246605"/>
                  </a:lnTo>
                  <a:cubicBezTo>
                    <a:pt x="0" y="110409"/>
                    <a:pt x="110409" y="0"/>
                    <a:pt x="246605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81389" cy="25668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052387" y="7244606"/>
            <a:ext cx="2354168" cy="614983"/>
            <a:chOff x="0" y="0"/>
            <a:chExt cx="3160034" cy="8255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160034" cy="825500"/>
            </a:xfrm>
            <a:custGeom>
              <a:avLst/>
              <a:gdLst/>
              <a:ahLst/>
              <a:cxnLst/>
              <a:rect r="r" b="b" t="t" l="l"/>
              <a:pathLst>
                <a:path h="825500" w="3160034">
                  <a:moveTo>
                    <a:pt x="92492" y="0"/>
                  </a:moveTo>
                  <a:lnTo>
                    <a:pt x="3067542" y="0"/>
                  </a:lnTo>
                  <a:cubicBezTo>
                    <a:pt x="3092072" y="0"/>
                    <a:pt x="3115598" y="9745"/>
                    <a:pt x="3132943" y="27090"/>
                  </a:cubicBezTo>
                  <a:cubicBezTo>
                    <a:pt x="3150289" y="44436"/>
                    <a:pt x="3160034" y="67962"/>
                    <a:pt x="3160034" y="92492"/>
                  </a:cubicBezTo>
                  <a:lnTo>
                    <a:pt x="3160034" y="733008"/>
                  </a:lnTo>
                  <a:cubicBezTo>
                    <a:pt x="3160034" y="757538"/>
                    <a:pt x="3150289" y="781064"/>
                    <a:pt x="3132943" y="798410"/>
                  </a:cubicBezTo>
                  <a:cubicBezTo>
                    <a:pt x="3115598" y="815755"/>
                    <a:pt x="3092072" y="825500"/>
                    <a:pt x="3067542" y="825500"/>
                  </a:cubicBezTo>
                  <a:lnTo>
                    <a:pt x="92492" y="825500"/>
                  </a:lnTo>
                  <a:cubicBezTo>
                    <a:pt x="67962" y="825500"/>
                    <a:pt x="44436" y="815755"/>
                    <a:pt x="27090" y="798410"/>
                  </a:cubicBezTo>
                  <a:cubicBezTo>
                    <a:pt x="9745" y="781064"/>
                    <a:pt x="0" y="757538"/>
                    <a:pt x="0" y="733008"/>
                  </a:cubicBezTo>
                  <a:lnTo>
                    <a:pt x="0" y="92492"/>
                  </a:lnTo>
                  <a:cubicBezTo>
                    <a:pt x="0" y="67962"/>
                    <a:pt x="9745" y="44436"/>
                    <a:pt x="27090" y="27090"/>
                  </a:cubicBezTo>
                  <a:cubicBezTo>
                    <a:pt x="44436" y="9745"/>
                    <a:pt x="67962" y="0"/>
                    <a:pt x="92492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3160034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150864" y="7308892"/>
            <a:ext cx="2157214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Ponderación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678273" y="7986519"/>
            <a:ext cx="6026566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51" indent="-269876" lvl="1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L</a:t>
            </a: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iquidez (50%) </a:t>
            </a:r>
          </a:p>
          <a:p>
            <a:pPr algn="l" marL="539751" indent="-269876" lvl="1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C</a:t>
            </a: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ompromiso temporal (20%)</a:t>
            </a:r>
          </a:p>
          <a:p>
            <a:pPr algn="l" marL="539751" indent="-269876" lvl="1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R</a:t>
            </a:r>
            <a:r>
              <a:rPr lang="en-US" sz="2500" strike="noStrike" u="none">
                <a:solidFill>
                  <a:srgbClr val="0F2335"/>
                </a:solidFill>
                <a:latin typeface="Source Sans 3"/>
                <a:ea typeface="Source Sans 3"/>
                <a:cs typeface="Source Sans 3"/>
                <a:sym typeface="Source Sans 3"/>
              </a:rPr>
              <a:t>ecurso tangible en red (30%)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09/12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8. Resultados de la Simulación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66800" y="3110405"/>
            <a:ext cx="1809750" cy="742950"/>
            <a:chOff x="0" y="0"/>
            <a:chExt cx="2413000" cy="990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13000" cy="990600"/>
            </a:xfrm>
            <a:custGeom>
              <a:avLst/>
              <a:gdLst/>
              <a:ahLst/>
              <a:cxnLst/>
              <a:rect r="r" b="b" t="t" l="l"/>
              <a:pathLst>
                <a:path h="990600" w="2413000">
                  <a:moveTo>
                    <a:pt x="127000" y="0"/>
                  </a:moveTo>
                  <a:lnTo>
                    <a:pt x="2286000" y="0"/>
                  </a:lnTo>
                  <a:cubicBezTo>
                    <a:pt x="2356140" y="0"/>
                    <a:pt x="2413000" y="56860"/>
                    <a:pt x="2413000" y="127000"/>
                  </a:cubicBezTo>
                  <a:lnTo>
                    <a:pt x="2413000" y="863600"/>
                  </a:lnTo>
                  <a:cubicBezTo>
                    <a:pt x="2413000" y="933740"/>
                    <a:pt x="2356140" y="990600"/>
                    <a:pt x="2286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413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7300" y="3300905"/>
            <a:ext cx="14763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876550" y="3110405"/>
            <a:ext cx="2000250" cy="742950"/>
            <a:chOff x="0" y="0"/>
            <a:chExt cx="2667000" cy="990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667000" cy="990600"/>
            </a:xfrm>
            <a:custGeom>
              <a:avLst/>
              <a:gdLst/>
              <a:ahLst/>
              <a:cxnLst/>
              <a:rect r="r" b="b" t="t" l="l"/>
              <a:pathLst>
                <a:path h="990600" w="2667000">
                  <a:moveTo>
                    <a:pt x="127000" y="0"/>
                  </a:moveTo>
                  <a:lnTo>
                    <a:pt x="2540000" y="0"/>
                  </a:lnTo>
                  <a:cubicBezTo>
                    <a:pt x="2610140" y="0"/>
                    <a:pt x="2667000" y="56860"/>
                    <a:pt x="2667000" y="127000"/>
                  </a:cubicBezTo>
                  <a:lnTo>
                    <a:pt x="2667000" y="863600"/>
                  </a:lnTo>
                  <a:cubicBezTo>
                    <a:pt x="2667000" y="933740"/>
                    <a:pt x="2610140" y="990600"/>
                    <a:pt x="2540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667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3067050" y="3300905"/>
            <a:ext cx="16668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Peso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4876800" y="3110405"/>
            <a:ext cx="2571750" cy="742950"/>
            <a:chOff x="0" y="0"/>
            <a:chExt cx="3429000" cy="990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29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429000">
                  <a:moveTo>
                    <a:pt x="127000" y="0"/>
                  </a:moveTo>
                  <a:lnTo>
                    <a:pt x="3302000" y="0"/>
                  </a:lnTo>
                  <a:cubicBezTo>
                    <a:pt x="3372140" y="0"/>
                    <a:pt x="3429000" y="56860"/>
                    <a:pt x="3429000" y="127000"/>
                  </a:cubicBezTo>
                  <a:lnTo>
                    <a:pt x="3429000" y="863600"/>
                  </a:lnTo>
                  <a:cubicBezTo>
                    <a:pt x="3429000" y="933740"/>
                    <a:pt x="3372140" y="990600"/>
                    <a:pt x="3302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429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5067300" y="3300905"/>
            <a:ext cx="22383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Prob. Teórica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7448550" y="3110405"/>
            <a:ext cx="2762250" cy="742950"/>
            <a:chOff x="0" y="0"/>
            <a:chExt cx="3683000" cy="990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683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683000">
                  <a:moveTo>
                    <a:pt x="127000" y="0"/>
                  </a:moveTo>
                  <a:lnTo>
                    <a:pt x="3556000" y="0"/>
                  </a:lnTo>
                  <a:cubicBezTo>
                    <a:pt x="3626140" y="0"/>
                    <a:pt x="3683000" y="56860"/>
                    <a:pt x="3683000" y="127000"/>
                  </a:cubicBezTo>
                  <a:lnTo>
                    <a:pt x="3683000" y="863600"/>
                  </a:lnTo>
                  <a:cubicBezTo>
                    <a:pt x="3683000" y="933740"/>
                    <a:pt x="3626140" y="990600"/>
                    <a:pt x="3556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683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7639050" y="3300905"/>
            <a:ext cx="24288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Bloques Ganados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10800" y="3110405"/>
            <a:ext cx="2667000" cy="742950"/>
            <a:chOff x="0" y="0"/>
            <a:chExt cx="3556000" cy="990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556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556000">
                  <a:moveTo>
                    <a:pt x="127000" y="0"/>
                  </a:moveTo>
                  <a:lnTo>
                    <a:pt x="3429000" y="0"/>
                  </a:lnTo>
                  <a:cubicBezTo>
                    <a:pt x="3499140" y="0"/>
                    <a:pt x="3556000" y="56860"/>
                    <a:pt x="3556000" y="127000"/>
                  </a:cubicBezTo>
                  <a:lnTo>
                    <a:pt x="3556000" y="863600"/>
                  </a:lnTo>
                  <a:cubicBezTo>
                    <a:pt x="3556000" y="933740"/>
                    <a:pt x="3499140" y="990600"/>
                    <a:pt x="3429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3556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0401300" y="3300905"/>
            <a:ext cx="23336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Frec. Obtenida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66800" y="3853355"/>
            <a:ext cx="1809750" cy="1000125"/>
            <a:chOff x="0" y="0"/>
            <a:chExt cx="2413000" cy="13335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257300" y="4129580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A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2876550" y="3853355"/>
            <a:ext cx="2000250" cy="1000125"/>
            <a:chOff x="0" y="0"/>
            <a:chExt cx="2667000" cy="1333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3067050" y="4129580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93.0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4876800" y="3853355"/>
            <a:ext cx="2571750" cy="1000125"/>
            <a:chOff x="0" y="0"/>
            <a:chExt cx="3429000" cy="13335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067300" y="4129580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3.79%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7448550" y="3853355"/>
            <a:ext cx="2762250" cy="1000125"/>
            <a:chOff x="0" y="0"/>
            <a:chExt cx="3683000" cy="13335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7639050" y="4129580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36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210800" y="3853355"/>
            <a:ext cx="2667000" cy="1000125"/>
            <a:chOff x="0" y="0"/>
            <a:chExt cx="3556000" cy="13335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0401300" y="4129580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3.60%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66800" y="4853480"/>
            <a:ext cx="1809750" cy="1000125"/>
            <a:chOff x="0" y="0"/>
            <a:chExt cx="2413000" cy="13335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257300" y="5129705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B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2876550" y="4853480"/>
            <a:ext cx="2000250" cy="1000125"/>
            <a:chOff x="0" y="0"/>
            <a:chExt cx="2667000" cy="13335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3067050" y="5129705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309.0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4876800" y="4853480"/>
            <a:ext cx="2571750" cy="1000125"/>
            <a:chOff x="0" y="0"/>
            <a:chExt cx="3429000" cy="1333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5067300" y="5129705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12.59%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7448550" y="4853480"/>
            <a:ext cx="2762250" cy="1000125"/>
            <a:chOff x="0" y="0"/>
            <a:chExt cx="3683000" cy="13335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7639050" y="5129705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134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10210800" y="4853480"/>
            <a:ext cx="2667000" cy="1000125"/>
            <a:chOff x="0" y="0"/>
            <a:chExt cx="3556000" cy="13335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10401300" y="5129705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13.40%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66800" y="5853605"/>
            <a:ext cx="1809750" cy="1000125"/>
            <a:chOff x="0" y="0"/>
            <a:chExt cx="2413000" cy="13335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1257300" y="6129830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C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2876550" y="5853605"/>
            <a:ext cx="2000250" cy="1000125"/>
            <a:chOff x="0" y="0"/>
            <a:chExt cx="2667000" cy="13335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3" id="73"/>
          <p:cNvSpPr txBox="true"/>
          <p:nvPr/>
        </p:nvSpPr>
        <p:spPr>
          <a:xfrm rot="0">
            <a:off x="3067050" y="6129830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654.0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4876800" y="5853605"/>
            <a:ext cx="2571750" cy="1000125"/>
            <a:chOff x="0" y="0"/>
            <a:chExt cx="3429000" cy="13335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5067300" y="6129830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26.65%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7448550" y="5853605"/>
            <a:ext cx="2762250" cy="1000125"/>
            <a:chOff x="0" y="0"/>
            <a:chExt cx="3683000" cy="13335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1" id="81"/>
          <p:cNvSpPr txBox="true"/>
          <p:nvPr/>
        </p:nvSpPr>
        <p:spPr>
          <a:xfrm rot="0">
            <a:off x="7639050" y="6129830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268</a:t>
            </a:r>
          </a:p>
        </p:txBody>
      </p:sp>
      <p:grpSp>
        <p:nvGrpSpPr>
          <p:cNvPr name="Group 82" id="82"/>
          <p:cNvGrpSpPr/>
          <p:nvPr/>
        </p:nvGrpSpPr>
        <p:grpSpPr>
          <a:xfrm rot="0">
            <a:off x="10210800" y="5853605"/>
            <a:ext cx="2667000" cy="1000125"/>
            <a:chOff x="0" y="0"/>
            <a:chExt cx="3556000" cy="13335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0401300" y="6129830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26.80%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1066800" y="6853730"/>
            <a:ext cx="1809750" cy="1000125"/>
            <a:chOff x="0" y="0"/>
            <a:chExt cx="2413000" cy="13335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1257300" y="7129955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D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2876550" y="6853730"/>
            <a:ext cx="2000250" cy="1000125"/>
            <a:chOff x="0" y="0"/>
            <a:chExt cx="2667000" cy="13335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3" id="93"/>
          <p:cNvSpPr txBox="true"/>
          <p:nvPr/>
        </p:nvSpPr>
        <p:spPr>
          <a:xfrm rot="0">
            <a:off x="3067050" y="7129955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1398.0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4876800" y="6853730"/>
            <a:ext cx="2571750" cy="1000125"/>
            <a:chOff x="0" y="0"/>
            <a:chExt cx="3429000" cy="133350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7" id="97"/>
          <p:cNvSpPr txBox="true"/>
          <p:nvPr/>
        </p:nvSpPr>
        <p:spPr>
          <a:xfrm rot="0">
            <a:off x="5067300" y="7129955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56.97%</a:t>
            </a:r>
          </a:p>
        </p:txBody>
      </p:sp>
      <p:grpSp>
        <p:nvGrpSpPr>
          <p:cNvPr name="Group 98" id="98"/>
          <p:cNvGrpSpPr/>
          <p:nvPr/>
        </p:nvGrpSpPr>
        <p:grpSpPr>
          <a:xfrm rot="0">
            <a:off x="7448550" y="6853730"/>
            <a:ext cx="2762250" cy="1000125"/>
            <a:chOff x="0" y="0"/>
            <a:chExt cx="3683000" cy="133350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639050" y="7129955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562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10210800" y="6853730"/>
            <a:ext cx="2667000" cy="1000125"/>
            <a:chOff x="0" y="0"/>
            <a:chExt cx="3556000" cy="133350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5" id="105"/>
          <p:cNvSpPr txBox="true"/>
          <p:nvPr/>
        </p:nvSpPr>
        <p:spPr>
          <a:xfrm rot="0">
            <a:off x="10401300" y="7129955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56.20%</a:t>
            </a:r>
          </a:p>
        </p:txBody>
      </p:sp>
      <p:grpSp>
        <p:nvGrpSpPr>
          <p:cNvPr name="Group 106" id="106"/>
          <p:cNvGrpSpPr/>
          <p:nvPr/>
        </p:nvGrpSpPr>
        <p:grpSpPr>
          <a:xfrm rot="0">
            <a:off x="13163550" y="3110405"/>
            <a:ext cx="4095750" cy="4743450"/>
            <a:chOff x="0" y="0"/>
            <a:chExt cx="5461000" cy="6324600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461000" cy="6324600"/>
            </a:xfrm>
            <a:custGeom>
              <a:avLst/>
              <a:gdLst/>
              <a:ahLst/>
              <a:cxnLst/>
              <a:rect r="r" b="b" t="t" l="l"/>
              <a:pathLst>
                <a:path h="6324600" w="5461000">
                  <a:moveTo>
                    <a:pt x="228600" y="0"/>
                  </a:moveTo>
                  <a:lnTo>
                    <a:pt x="5232400" y="0"/>
                  </a:lnTo>
                  <a:cubicBezTo>
                    <a:pt x="5358652" y="0"/>
                    <a:pt x="5461000" y="102348"/>
                    <a:pt x="5461000" y="228600"/>
                  </a:cubicBezTo>
                  <a:lnTo>
                    <a:pt x="5461000" y="6096000"/>
                  </a:lnTo>
                  <a:cubicBezTo>
                    <a:pt x="5461000" y="6222252"/>
                    <a:pt x="5358652" y="6324600"/>
                    <a:pt x="5232400" y="6324600"/>
                  </a:cubicBezTo>
                  <a:lnTo>
                    <a:pt x="228600" y="6324600"/>
                  </a:lnTo>
                  <a:cubicBezTo>
                    <a:pt x="102348" y="6324600"/>
                    <a:pt x="0" y="6222252"/>
                    <a:pt x="0" y="60960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5461000" cy="636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13163550" y="3110405"/>
            <a:ext cx="4095750" cy="114300"/>
            <a:chOff x="0" y="0"/>
            <a:chExt cx="5461000" cy="15240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61000" cy="152400"/>
            </a:xfrm>
            <a:custGeom>
              <a:avLst/>
              <a:gdLst/>
              <a:ahLst/>
              <a:cxnLst/>
              <a:rect r="r" b="b" t="t" l="l"/>
              <a:pathLst>
                <a:path h="152400" w="5461000">
                  <a:moveTo>
                    <a:pt x="76200" y="0"/>
                  </a:moveTo>
                  <a:lnTo>
                    <a:pt x="5384800" y="0"/>
                  </a:lnTo>
                  <a:cubicBezTo>
                    <a:pt x="5426884" y="0"/>
                    <a:pt x="5461000" y="34116"/>
                    <a:pt x="5461000" y="76200"/>
                  </a:cubicBezTo>
                  <a:lnTo>
                    <a:pt x="5461000" y="76200"/>
                  </a:lnTo>
                  <a:cubicBezTo>
                    <a:pt x="5461000" y="118284"/>
                    <a:pt x="5426884" y="152400"/>
                    <a:pt x="5384800" y="152400"/>
                  </a:cubicBezTo>
                  <a:lnTo>
                    <a:pt x="76200" y="152400"/>
                  </a:lnTo>
                  <a:cubicBezTo>
                    <a:pt x="34116" y="152400"/>
                    <a:pt x="0" y="118284"/>
                    <a:pt x="0" y="762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61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13496925" y="3481880"/>
            <a:ext cx="2857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HALLAZGO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13420725" y="3653330"/>
            <a:ext cx="1333500" cy="133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19"/>
              </a:lnSpc>
            </a:pPr>
            <a:r>
              <a:rPr lang="en-US" sz="7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13496925" y="4843955"/>
            <a:ext cx="333375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lidera con el 56,2%</a:t>
            </a:r>
          </a:p>
        </p:txBody>
      </p:sp>
      <p:grpSp>
        <p:nvGrpSpPr>
          <p:cNvPr name="Group 115" id="115"/>
          <p:cNvGrpSpPr/>
          <p:nvPr/>
        </p:nvGrpSpPr>
        <p:grpSpPr>
          <a:xfrm rot="0">
            <a:off x="13496925" y="5825030"/>
            <a:ext cx="3429000" cy="19050"/>
            <a:chOff x="0" y="0"/>
            <a:chExt cx="4572000" cy="2540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572000" cy="25400"/>
            </a:xfrm>
            <a:custGeom>
              <a:avLst/>
              <a:gdLst/>
              <a:ahLst/>
              <a:cxnLst/>
              <a:rect r="r" b="b" t="t" l="l"/>
              <a:pathLst>
                <a:path h="254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B8D8DC"/>
            </a:solid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38100"/>
              <a:ext cx="4572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8" id="118"/>
          <p:cNvSpPr txBox="true"/>
          <p:nvPr/>
        </p:nvSpPr>
        <p:spPr>
          <a:xfrm rot="0">
            <a:off x="13496925" y="6063155"/>
            <a:ext cx="3429000" cy="158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frecuencia empírica converge con la probabilidad teórica calculada.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9. Conclusiones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667000"/>
            <a:ext cx="16192500" cy="1524000"/>
            <a:chOff x="0" y="0"/>
            <a:chExt cx="21590000" cy="203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524000" y="3000375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57500" y="2971800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De la fuerza bruta a la utilidad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857500" y="3457575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Transición del consumo por fuerza bruta (PoW) a la utilidad tangible (PoWeight).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47750" y="4619625"/>
            <a:ext cx="16192500" cy="1524000"/>
            <a:chOff x="0" y="0"/>
            <a:chExt cx="21590000" cy="2032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524000" y="4953000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57500" y="4924425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Nuevos ecosistemas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857500" y="5410200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Gran potencial en ecosistemas de IoT y almacenamiento descentralizado.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047750" y="6572250"/>
            <a:ext cx="16192500" cy="1524000"/>
            <a:chOff x="0" y="0"/>
            <a:chExt cx="21590000" cy="2032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524000" y="6905625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57500" y="6877050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Reto de diseño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857500" y="7362825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Diseñar métricas de peso seguras y resistentes a la centralización.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47750" y="6858000"/>
            <a:ext cx="16192500" cy="19050"/>
            <a:chOff x="0" y="0"/>
            <a:chExt cx="21590000" cy="25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90000" cy="25400"/>
            </a:xfrm>
            <a:custGeom>
              <a:avLst/>
              <a:gdLst/>
              <a:ahLst/>
              <a:cxnLst/>
              <a:rect r="r" b="b" t="t" l="l"/>
              <a:pathLst>
                <a:path h="25400" w="21590000">
                  <a:moveTo>
                    <a:pt x="0" y="0"/>
                  </a:moveTo>
                  <a:lnTo>
                    <a:pt x="21590000" y="0"/>
                  </a:lnTo>
                  <a:lnTo>
                    <a:pt x="21590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D9E5E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1590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381250" y="3717607"/>
            <a:ext cx="14106642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66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¡Muchas gracias por vuestra atención!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2907" y="8023607"/>
            <a:ext cx="3276190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Arribí Lamas, Moisés</a:t>
            </a:r>
          </a:p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Martínez López, Miguel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007136" y="8252207"/>
            <a:ext cx="466122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 Coruña, 19 de Octubre de 2026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10858" y="9504680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12/12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197156" y="8252207"/>
            <a:ext cx="7201921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Tecnologías de Registro Distribuido y Blockchain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DAHYG5Qp7Vk</dc:identifier>
  <dcterms:modified xsi:type="dcterms:W3CDTF">2011-08-01T06:04:30Z</dcterms:modified>
  <cp:revision>1</cp:revision>
  <dc:title>Protocolo PoWeight</dc:title>
</cp:coreProperties>
</file>