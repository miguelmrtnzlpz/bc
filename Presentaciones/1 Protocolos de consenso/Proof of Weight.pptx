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Source Sans 3 Bold" charset="1" panose="020B0303030403020204"/>
      <p:regular r:id="rId17"/>
    </p:embeddedFont>
    <p:embeddedFont>
      <p:font typeface="Source Sans 3" charset="1" panose="020B03030304030202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BFAF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001500" y="0"/>
            <a:ext cx="6286500" cy="10287000"/>
            <a:chOff x="0" y="0"/>
            <a:chExt cx="8382000" cy="1371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382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8382000">
                  <a:moveTo>
                    <a:pt x="0" y="0"/>
                  </a:moveTo>
                  <a:lnTo>
                    <a:pt x="8382000" y="0"/>
                  </a:lnTo>
                  <a:lnTo>
                    <a:pt x="8382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8382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668750" y="0"/>
            <a:ext cx="1619250" cy="10287000"/>
            <a:chOff x="0" y="0"/>
            <a:chExt cx="2159000" cy="13716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59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159000">
                  <a:moveTo>
                    <a:pt x="0" y="0"/>
                  </a:moveTo>
                  <a:lnTo>
                    <a:pt x="2159000" y="0"/>
                  </a:lnTo>
                  <a:lnTo>
                    <a:pt x="2159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2159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47750" y="1390650"/>
            <a:ext cx="781050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PROTOCOLO DE CONSENSO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47750" y="1790700"/>
            <a:ext cx="9906000" cy="2147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80"/>
              </a:lnSpc>
            </a:pPr>
            <a:r>
              <a:rPr lang="en-US" sz="62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Protocolo de Consenso:</a:t>
            </a:r>
          </a:p>
          <a:p>
            <a:pPr algn="l">
              <a:lnSpc>
                <a:spcPts val="8680"/>
              </a:lnSpc>
            </a:pPr>
            <a:r>
              <a:rPr lang="en-US" sz="62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Proof of Weight (PoWeight)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47750" y="4252595"/>
            <a:ext cx="9620250" cy="941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Tecnologías de Registro Distribuido y Blockchain</a:t>
            </a:r>
          </a:p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Tarea Colaborativa 1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047750" y="5595620"/>
            <a:ext cx="1428750" cy="66675"/>
            <a:chOff x="0" y="0"/>
            <a:chExt cx="1905000" cy="889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05000" cy="88900"/>
            </a:xfrm>
            <a:custGeom>
              <a:avLst/>
              <a:gdLst/>
              <a:ahLst/>
              <a:cxnLst/>
              <a:rect r="r" b="b" t="t" l="l"/>
              <a:pathLst>
                <a:path h="88900" w="1905000">
                  <a:moveTo>
                    <a:pt x="44450" y="0"/>
                  </a:moveTo>
                  <a:lnTo>
                    <a:pt x="1860550" y="0"/>
                  </a:lnTo>
                  <a:cubicBezTo>
                    <a:pt x="1885099" y="0"/>
                    <a:pt x="1905000" y="19901"/>
                    <a:pt x="1905000" y="44450"/>
                  </a:cubicBezTo>
                  <a:lnTo>
                    <a:pt x="1905000" y="44450"/>
                  </a:lnTo>
                  <a:cubicBezTo>
                    <a:pt x="1905000" y="68999"/>
                    <a:pt x="1885099" y="88900"/>
                    <a:pt x="1860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905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047750" y="6286500"/>
            <a:ext cx="28575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AUTORES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47750" y="6572250"/>
            <a:ext cx="9048750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Moisés Arribí Lamas · Miguel Martínez López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47750" y="7277100"/>
            <a:ext cx="61912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19 de octubre de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47750" y="9610725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POWEIGHT  /  01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Índice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47750" y="2238375"/>
            <a:ext cx="16192500" cy="590550"/>
            <a:chOff x="0" y="0"/>
            <a:chExt cx="21590000" cy="787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590000" cy="787400"/>
            </a:xfrm>
            <a:custGeom>
              <a:avLst/>
              <a:gdLst/>
              <a:ahLst/>
              <a:cxnLst/>
              <a:rect r="r" b="b" t="t" l="l"/>
              <a:pathLst>
                <a:path h="787400" w="21590000">
                  <a:moveTo>
                    <a:pt x="127000" y="0"/>
                  </a:moveTo>
                  <a:lnTo>
                    <a:pt x="21463000" y="0"/>
                  </a:lnTo>
                  <a:cubicBezTo>
                    <a:pt x="21533140" y="0"/>
                    <a:pt x="21590000" y="56860"/>
                    <a:pt x="21590000" y="127000"/>
                  </a:cubicBezTo>
                  <a:lnTo>
                    <a:pt x="21590000" y="660400"/>
                  </a:lnTo>
                  <a:cubicBezTo>
                    <a:pt x="21590000" y="730540"/>
                    <a:pt x="21533140" y="787400"/>
                    <a:pt x="21463000" y="787400"/>
                  </a:cubicBezTo>
                  <a:lnTo>
                    <a:pt x="127000" y="787400"/>
                  </a:lnTo>
                  <a:cubicBezTo>
                    <a:pt x="56860" y="787400"/>
                    <a:pt x="0" y="730540"/>
                    <a:pt x="0" y="6604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15900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47750" y="2238375"/>
            <a:ext cx="85725" cy="590550"/>
            <a:chOff x="0" y="0"/>
            <a:chExt cx="114300" cy="78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4300" cy="787400"/>
            </a:xfrm>
            <a:custGeom>
              <a:avLst/>
              <a:gdLst/>
              <a:ahLst/>
              <a:cxnLst/>
              <a:rect r="r" b="b" t="t" l="l"/>
              <a:pathLst>
                <a:path h="787400" w="114300">
                  <a:moveTo>
                    <a:pt x="50800" y="0"/>
                  </a:moveTo>
                  <a:lnTo>
                    <a:pt x="63500" y="0"/>
                  </a:lnTo>
                  <a:cubicBezTo>
                    <a:pt x="91556" y="0"/>
                    <a:pt x="114300" y="22744"/>
                    <a:pt x="114300" y="50800"/>
                  </a:cubicBezTo>
                  <a:lnTo>
                    <a:pt x="114300" y="736600"/>
                  </a:lnTo>
                  <a:cubicBezTo>
                    <a:pt x="114300" y="764656"/>
                    <a:pt x="91556" y="787400"/>
                    <a:pt x="63500" y="787400"/>
                  </a:cubicBezTo>
                  <a:lnTo>
                    <a:pt x="50800" y="787400"/>
                  </a:lnTo>
                  <a:cubicBezTo>
                    <a:pt x="22744" y="787400"/>
                    <a:pt x="0" y="764656"/>
                    <a:pt x="0" y="736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143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428750" y="2362200"/>
            <a:ext cx="6667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381250" y="2343150"/>
            <a:ext cx="1381125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Definición y Características Generales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047750" y="3019425"/>
            <a:ext cx="16192500" cy="590550"/>
            <a:chOff x="0" y="0"/>
            <a:chExt cx="21590000" cy="7874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590000" cy="787400"/>
            </a:xfrm>
            <a:custGeom>
              <a:avLst/>
              <a:gdLst/>
              <a:ahLst/>
              <a:cxnLst/>
              <a:rect r="r" b="b" t="t" l="l"/>
              <a:pathLst>
                <a:path h="787400" w="21590000">
                  <a:moveTo>
                    <a:pt x="127000" y="0"/>
                  </a:moveTo>
                  <a:lnTo>
                    <a:pt x="21463000" y="0"/>
                  </a:lnTo>
                  <a:cubicBezTo>
                    <a:pt x="21533140" y="0"/>
                    <a:pt x="21590000" y="56860"/>
                    <a:pt x="21590000" y="127000"/>
                  </a:cubicBezTo>
                  <a:lnTo>
                    <a:pt x="21590000" y="660400"/>
                  </a:lnTo>
                  <a:cubicBezTo>
                    <a:pt x="21590000" y="730540"/>
                    <a:pt x="21533140" y="787400"/>
                    <a:pt x="21463000" y="787400"/>
                  </a:cubicBezTo>
                  <a:lnTo>
                    <a:pt x="127000" y="787400"/>
                  </a:lnTo>
                  <a:cubicBezTo>
                    <a:pt x="56860" y="787400"/>
                    <a:pt x="0" y="730540"/>
                    <a:pt x="0" y="6604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15900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47750" y="3019425"/>
            <a:ext cx="85725" cy="590550"/>
            <a:chOff x="0" y="0"/>
            <a:chExt cx="114300" cy="7874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4300" cy="787400"/>
            </a:xfrm>
            <a:custGeom>
              <a:avLst/>
              <a:gdLst/>
              <a:ahLst/>
              <a:cxnLst/>
              <a:rect r="r" b="b" t="t" l="l"/>
              <a:pathLst>
                <a:path h="787400" w="114300">
                  <a:moveTo>
                    <a:pt x="50800" y="0"/>
                  </a:moveTo>
                  <a:lnTo>
                    <a:pt x="63500" y="0"/>
                  </a:lnTo>
                  <a:cubicBezTo>
                    <a:pt x="91556" y="0"/>
                    <a:pt x="114300" y="22744"/>
                    <a:pt x="114300" y="50800"/>
                  </a:cubicBezTo>
                  <a:lnTo>
                    <a:pt x="114300" y="736600"/>
                  </a:lnTo>
                  <a:cubicBezTo>
                    <a:pt x="114300" y="764656"/>
                    <a:pt x="91556" y="787400"/>
                    <a:pt x="63500" y="787400"/>
                  </a:cubicBezTo>
                  <a:lnTo>
                    <a:pt x="50800" y="787400"/>
                  </a:lnTo>
                  <a:cubicBezTo>
                    <a:pt x="22744" y="787400"/>
                    <a:pt x="0" y="764656"/>
                    <a:pt x="0" y="736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143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428750" y="3143250"/>
            <a:ext cx="6667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381250" y="3124200"/>
            <a:ext cx="1381125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Mecanismo de Funcionamiento y VRF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47750" y="3800475"/>
            <a:ext cx="16192500" cy="590550"/>
            <a:chOff x="0" y="0"/>
            <a:chExt cx="21590000" cy="7874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590000" cy="787400"/>
            </a:xfrm>
            <a:custGeom>
              <a:avLst/>
              <a:gdLst/>
              <a:ahLst/>
              <a:cxnLst/>
              <a:rect r="r" b="b" t="t" l="l"/>
              <a:pathLst>
                <a:path h="787400" w="21590000">
                  <a:moveTo>
                    <a:pt x="127000" y="0"/>
                  </a:moveTo>
                  <a:lnTo>
                    <a:pt x="21463000" y="0"/>
                  </a:lnTo>
                  <a:cubicBezTo>
                    <a:pt x="21533140" y="0"/>
                    <a:pt x="21590000" y="56860"/>
                    <a:pt x="21590000" y="127000"/>
                  </a:cubicBezTo>
                  <a:lnTo>
                    <a:pt x="21590000" y="660400"/>
                  </a:lnTo>
                  <a:cubicBezTo>
                    <a:pt x="21590000" y="730540"/>
                    <a:pt x="21533140" y="787400"/>
                    <a:pt x="21463000" y="787400"/>
                  </a:cubicBezTo>
                  <a:lnTo>
                    <a:pt x="127000" y="787400"/>
                  </a:lnTo>
                  <a:cubicBezTo>
                    <a:pt x="56860" y="787400"/>
                    <a:pt x="0" y="730540"/>
                    <a:pt x="0" y="6604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15900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47750" y="3800475"/>
            <a:ext cx="85725" cy="590550"/>
            <a:chOff x="0" y="0"/>
            <a:chExt cx="114300" cy="7874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4300" cy="787400"/>
            </a:xfrm>
            <a:custGeom>
              <a:avLst/>
              <a:gdLst/>
              <a:ahLst/>
              <a:cxnLst/>
              <a:rect r="r" b="b" t="t" l="l"/>
              <a:pathLst>
                <a:path h="787400" w="114300">
                  <a:moveTo>
                    <a:pt x="50800" y="0"/>
                  </a:moveTo>
                  <a:lnTo>
                    <a:pt x="63500" y="0"/>
                  </a:lnTo>
                  <a:cubicBezTo>
                    <a:pt x="91556" y="0"/>
                    <a:pt x="114300" y="22744"/>
                    <a:pt x="114300" y="50800"/>
                  </a:cubicBezTo>
                  <a:lnTo>
                    <a:pt x="114300" y="736600"/>
                  </a:lnTo>
                  <a:cubicBezTo>
                    <a:pt x="114300" y="764656"/>
                    <a:pt x="91556" y="787400"/>
                    <a:pt x="63500" y="787400"/>
                  </a:cubicBezTo>
                  <a:lnTo>
                    <a:pt x="50800" y="787400"/>
                  </a:lnTo>
                  <a:cubicBezTo>
                    <a:pt x="22744" y="787400"/>
                    <a:pt x="0" y="764656"/>
                    <a:pt x="0" y="736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1143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428750" y="3924300"/>
            <a:ext cx="6667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03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381250" y="3905250"/>
            <a:ext cx="1381125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Ventajas e Inconvenientes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047750" y="4581525"/>
            <a:ext cx="16192500" cy="590550"/>
            <a:chOff x="0" y="0"/>
            <a:chExt cx="21590000" cy="7874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590000" cy="787400"/>
            </a:xfrm>
            <a:custGeom>
              <a:avLst/>
              <a:gdLst/>
              <a:ahLst/>
              <a:cxnLst/>
              <a:rect r="r" b="b" t="t" l="l"/>
              <a:pathLst>
                <a:path h="787400" w="21590000">
                  <a:moveTo>
                    <a:pt x="127000" y="0"/>
                  </a:moveTo>
                  <a:lnTo>
                    <a:pt x="21463000" y="0"/>
                  </a:lnTo>
                  <a:cubicBezTo>
                    <a:pt x="21533140" y="0"/>
                    <a:pt x="21590000" y="56860"/>
                    <a:pt x="21590000" y="127000"/>
                  </a:cubicBezTo>
                  <a:lnTo>
                    <a:pt x="21590000" y="660400"/>
                  </a:lnTo>
                  <a:cubicBezTo>
                    <a:pt x="21590000" y="730540"/>
                    <a:pt x="21533140" y="787400"/>
                    <a:pt x="21463000" y="787400"/>
                  </a:cubicBezTo>
                  <a:lnTo>
                    <a:pt x="127000" y="787400"/>
                  </a:lnTo>
                  <a:cubicBezTo>
                    <a:pt x="56860" y="787400"/>
                    <a:pt x="0" y="730540"/>
                    <a:pt x="0" y="6604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215900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47750" y="4581525"/>
            <a:ext cx="85725" cy="590550"/>
            <a:chOff x="0" y="0"/>
            <a:chExt cx="114300" cy="787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14300" cy="787400"/>
            </a:xfrm>
            <a:custGeom>
              <a:avLst/>
              <a:gdLst/>
              <a:ahLst/>
              <a:cxnLst/>
              <a:rect r="r" b="b" t="t" l="l"/>
              <a:pathLst>
                <a:path h="787400" w="114300">
                  <a:moveTo>
                    <a:pt x="50800" y="0"/>
                  </a:moveTo>
                  <a:lnTo>
                    <a:pt x="63500" y="0"/>
                  </a:lnTo>
                  <a:cubicBezTo>
                    <a:pt x="91556" y="0"/>
                    <a:pt x="114300" y="22744"/>
                    <a:pt x="114300" y="50800"/>
                  </a:cubicBezTo>
                  <a:lnTo>
                    <a:pt x="114300" y="736600"/>
                  </a:lnTo>
                  <a:cubicBezTo>
                    <a:pt x="114300" y="764656"/>
                    <a:pt x="91556" y="787400"/>
                    <a:pt x="63500" y="787400"/>
                  </a:cubicBezTo>
                  <a:lnTo>
                    <a:pt x="50800" y="787400"/>
                  </a:lnTo>
                  <a:cubicBezTo>
                    <a:pt x="22744" y="787400"/>
                    <a:pt x="0" y="764656"/>
                    <a:pt x="0" y="736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143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428750" y="4705350"/>
            <a:ext cx="6667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04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2381250" y="4686300"/>
            <a:ext cx="1381125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Seguridad y Principales Ataques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047750" y="5362575"/>
            <a:ext cx="16192500" cy="590550"/>
            <a:chOff x="0" y="0"/>
            <a:chExt cx="21590000" cy="7874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1590000" cy="787400"/>
            </a:xfrm>
            <a:custGeom>
              <a:avLst/>
              <a:gdLst/>
              <a:ahLst/>
              <a:cxnLst/>
              <a:rect r="r" b="b" t="t" l="l"/>
              <a:pathLst>
                <a:path h="787400" w="21590000">
                  <a:moveTo>
                    <a:pt x="127000" y="0"/>
                  </a:moveTo>
                  <a:lnTo>
                    <a:pt x="21463000" y="0"/>
                  </a:lnTo>
                  <a:cubicBezTo>
                    <a:pt x="21533140" y="0"/>
                    <a:pt x="21590000" y="56860"/>
                    <a:pt x="21590000" y="127000"/>
                  </a:cubicBezTo>
                  <a:lnTo>
                    <a:pt x="21590000" y="660400"/>
                  </a:lnTo>
                  <a:cubicBezTo>
                    <a:pt x="21590000" y="730540"/>
                    <a:pt x="21533140" y="787400"/>
                    <a:pt x="21463000" y="787400"/>
                  </a:cubicBezTo>
                  <a:lnTo>
                    <a:pt x="127000" y="787400"/>
                  </a:lnTo>
                  <a:cubicBezTo>
                    <a:pt x="56860" y="787400"/>
                    <a:pt x="0" y="730540"/>
                    <a:pt x="0" y="6604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215900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47750" y="5362575"/>
            <a:ext cx="85725" cy="590550"/>
            <a:chOff x="0" y="0"/>
            <a:chExt cx="114300" cy="7874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4300" cy="787400"/>
            </a:xfrm>
            <a:custGeom>
              <a:avLst/>
              <a:gdLst/>
              <a:ahLst/>
              <a:cxnLst/>
              <a:rect r="r" b="b" t="t" l="l"/>
              <a:pathLst>
                <a:path h="787400" w="114300">
                  <a:moveTo>
                    <a:pt x="50800" y="0"/>
                  </a:moveTo>
                  <a:lnTo>
                    <a:pt x="63500" y="0"/>
                  </a:lnTo>
                  <a:cubicBezTo>
                    <a:pt x="91556" y="0"/>
                    <a:pt x="114300" y="22744"/>
                    <a:pt x="114300" y="50800"/>
                  </a:cubicBezTo>
                  <a:lnTo>
                    <a:pt x="114300" y="736600"/>
                  </a:lnTo>
                  <a:cubicBezTo>
                    <a:pt x="114300" y="764656"/>
                    <a:pt x="91556" y="787400"/>
                    <a:pt x="63500" y="787400"/>
                  </a:cubicBezTo>
                  <a:lnTo>
                    <a:pt x="50800" y="787400"/>
                  </a:lnTo>
                  <a:cubicBezTo>
                    <a:pt x="22744" y="787400"/>
                    <a:pt x="0" y="764656"/>
                    <a:pt x="0" y="736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1143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1428750" y="5486400"/>
            <a:ext cx="6667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05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2381250" y="5467350"/>
            <a:ext cx="1381125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Casos de Uso en Tecnologías DLT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1047750" y="6143625"/>
            <a:ext cx="16192500" cy="590550"/>
            <a:chOff x="0" y="0"/>
            <a:chExt cx="21590000" cy="7874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1590000" cy="787400"/>
            </a:xfrm>
            <a:custGeom>
              <a:avLst/>
              <a:gdLst/>
              <a:ahLst/>
              <a:cxnLst/>
              <a:rect r="r" b="b" t="t" l="l"/>
              <a:pathLst>
                <a:path h="787400" w="21590000">
                  <a:moveTo>
                    <a:pt x="127000" y="0"/>
                  </a:moveTo>
                  <a:lnTo>
                    <a:pt x="21463000" y="0"/>
                  </a:lnTo>
                  <a:cubicBezTo>
                    <a:pt x="21533140" y="0"/>
                    <a:pt x="21590000" y="56860"/>
                    <a:pt x="21590000" y="127000"/>
                  </a:cubicBezTo>
                  <a:lnTo>
                    <a:pt x="21590000" y="660400"/>
                  </a:lnTo>
                  <a:cubicBezTo>
                    <a:pt x="21590000" y="730540"/>
                    <a:pt x="21533140" y="787400"/>
                    <a:pt x="21463000" y="787400"/>
                  </a:cubicBezTo>
                  <a:lnTo>
                    <a:pt x="127000" y="787400"/>
                  </a:lnTo>
                  <a:cubicBezTo>
                    <a:pt x="56860" y="787400"/>
                    <a:pt x="0" y="730540"/>
                    <a:pt x="0" y="6604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215900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047750" y="6143625"/>
            <a:ext cx="85725" cy="590550"/>
            <a:chOff x="0" y="0"/>
            <a:chExt cx="114300" cy="7874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14300" cy="787400"/>
            </a:xfrm>
            <a:custGeom>
              <a:avLst/>
              <a:gdLst/>
              <a:ahLst/>
              <a:cxnLst/>
              <a:rect r="r" b="b" t="t" l="l"/>
              <a:pathLst>
                <a:path h="787400" w="114300">
                  <a:moveTo>
                    <a:pt x="50800" y="0"/>
                  </a:moveTo>
                  <a:lnTo>
                    <a:pt x="63500" y="0"/>
                  </a:lnTo>
                  <a:cubicBezTo>
                    <a:pt x="91556" y="0"/>
                    <a:pt x="114300" y="22744"/>
                    <a:pt x="114300" y="50800"/>
                  </a:cubicBezTo>
                  <a:lnTo>
                    <a:pt x="114300" y="736600"/>
                  </a:lnTo>
                  <a:cubicBezTo>
                    <a:pt x="114300" y="764656"/>
                    <a:pt x="91556" y="787400"/>
                    <a:pt x="63500" y="787400"/>
                  </a:cubicBezTo>
                  <a:lnTo>
                    <a:pt x="50800" y="787400"/>
                  </a:lnTo>
                  <a:cubicBezTo>
                    <a:pt x="22744" y="787400"/>
                    <a:pt x="0" y="764656"/>
                    <a:pt x="0" y="736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1143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2" id="52"/>
          <p:cNvSpPr txBox="true"/>
          <p:nvPr/>
        </p:nvSpPr>
        <p:spPr>
          <a:xfrm rot="0">
            <a:off x="1428750" y="6267450"/>
            <a:ext cx="6667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06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2381250" y="6248400"/>
            <a:ext cx="1381125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Simulación Experimental y Metodología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1047750" y="6924675"/>
            <a:ext cx="16192500" cy="590550"/>
            <a:chOff x="0" y="0"/>
            <a:chExt cx="21590000" cy="7874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1590000" cy="787400"/>
            </a:xfrm>
            <a:custGeom>
              <a:avLst/>
              <a:gdLst/>
              <a:ahLst/>
              <a:cxnLst/>
              <a:rect r="r" b="b" t="t" l="l"/>
              <a:pathLst>
                <a:path h="787400" w="21590000">
                  <a:moveTo>
                    <a:pt x="127000" y="0"/>
                  </a:moveTo>
                  <a:lnTo>
                    <a:pt x="21463000" y="0"/>
                  </a:lnTo>
                  <a:cubicBezTo>
                    <a:pt x="21533140" y="0"/>
                    <a:pt x="21590000" y="56860"/>
                    <a:pt x="21590000" y="127000"/>
                  </a:cubicBezTo>
                  <a:lnTo>
                    <a:pt x="21590000" y="660400"/>
                  </a:lnTo>
                  <a:cubicBezTo>
                    <a:pt x="21590000" y="730540"/>
                    <a:pt x="21533140" y="787400"/>
                    <a:pt x="21463000" y="787400"/>
                  </a:cubicBezTo>
                  <a:lnTo>
                    <a:pt x="127000" y="787400"/>
                  </a:lnTo>
                  <a:cubicBezTo>
                    <a:pt x="56860" y="787400"/>
                    <a:pt x="0" y="730540"/>
                    <a:pt x="0" y="6604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215900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047750" y="6924675"/>
            <a:ext cx="85725" cy="590550"/>
            <a:chOff x="0" y="0"/>
            <a:chExt cx="114300" cy="78740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14300" cy="787400"/>
            </a:xfrm>
            <a:custGeom>
              <a:avLst/>
              <a:gdLst/>
              <a:ahLst/>
              <a:cxnLst/>
              <a:rect r="r" b="b" t="t" l="l"/>
              <a:pathLst>
                <a:path h="787400" w="114300">
                  <a:moveTo>
                    <a:pt x="50800" y="0"/>
                  </a:moveTo>
                  <a:lnTo>
                    <a:pt x="63500" y="0"/>
                  </a:lnTo>
                  <a:cubicBezTo>
                    <a:pt x="91556" y="0"/>
                    <a:pt x="114300" y="22744"/>
                    <a:pt x="114300" y="50800"/>
                  </a:cubicBezTo>
                  <a:lnTo>
                    <a:pt x="114300" y="736600"/>
                  </a:lnTo>
                  <a:cubicBezTo>
                    <a:pt x="114300" y="764656"/>
                    <a:pt x="91556" y="787400"/>
                    <a:pt x="63500" y="787400"/>
                  </a:cubicBezTo>
                  <a:lnTo>
                    <a:pt x="50800" y="787400"/>
                  </a:lnTo>
                  <a:cubicBezTo>
                    <a:pt x="22744" y="787400"/>
                    <a:pt x="0" y="764656"/>
                    <a:pt x="0" y="736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1143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0" id="60"/>
          <p:cNvSpPr txBox="true"/>
          <p:nvPr/>
        </p:nvSpPr>
        <p:spPr>
          <a:xfrm rot="0">
            <a:off x="1428750" y="7048500"/>
            <a:ext cx="6667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07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2381250" y="7029450"/>
            <a:ext cx="1381125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Resultados de la Simulación</a:t>
            </a:r>
          </a:p>
        </p:txBody>
      </p:sp>
      <p:grpSp>
        <p:nvGrpSpPr>
          <p:cNvPr name="Group 62" id="62"/>
          <p:cNvGrpSpPr/>
          <p:nvPr/>
        </p:nvGrpSpPr>
        <p:grpSpPr>
          <a:xfrm rot="0">
            <a:off x="1047750" y="7705725"/>
            <a:ext cx="16192500" cy="590550"/>
            <a:chOff x="0" y="0"/>
            <a:chExt cx="21590000" cy="7874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1590000" cy="787400"/>
            </a:xfrm>
            <a:custGeom>
              <a:avLst/>
              <a:gdLst/>
              <a:ahLst/>
              <a:cxnLst/>
              <a:rect r="r" b="b" t="t" l="l"/>
              <a:pathLst>
                <a:path h="787400" w="21590000">
                  <a:moveTo>
                    <a:pt x="127000" y="0"/>
                  </a:moveTo>
                  <a:lnTo>
                    <a:pt x="21463000" y="0"/>
                  </a:lnTo>
                  <a:cubicBezTo>
                    <a:pt x="21533140" y="0"/>
                    <a:pt x="21590000" y="56860"/>
                    <a:pt x="21590000" y="127000"/>
                  </a:cubicBezTo>
                  <a:lnTo>
                    <a:pt x="21590000" y="660400"/>
                  </a:lnTo>
                  <a:cubicBezTo>
                    <a:pt x="21590000" y="730540"/>
                    <a:pt x="21533140" y="787400"/>
                    <a:pt x="21463000" y="787400"/>
                  </a:cubicBezTo>
                  <a:lnTo>
                    <a:pt x="127000" y="787400"/>
                  </a:lnTo>
                  <a:cubicBezTo>
                    <a:pt x="56860" y="787400"/>
                    <a:pt x="0" y="730540"/>
                    <a:pt x="0" y="6604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215900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047750" y="7705725"/>
            <a:ext cx="85725" cy="590550"/>
            <a:chOff x="0" y="0"/>
            <a:chExt cx="114300" cy="78740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14300" cy="787400"/>
            </a:xfrm>
            <a:custGeom>
              <a:avLst/>
              <a:gdLst/>
              <a:ahLst/>
              <a:cxnLst/>
              <a:rect r="r" b="b" t="t" l="l"/>
              <a:pathLst>
                <a:path h="787400" w="114300">
                  <a:moveTo>
                    <a:pt x="50800" y="0"/>
                  </a:moveTo>
                  <a:lnTo>
                    <a:pt x="63500" y="0"/>
                  </a:lnTo>
                  <a:cubicBezTo>
                    <a:pt x="91556" y="0"/>
                    <a:pt x="114300" y="22744"/>
                    <a:pt x="114300" y="50800"/>
                  </a:cubicBezTo>
                  <a:lnTo>
                    <a:pt x="114300" y="736600"/>
                  </a:lnTo>
                  <a:cubicBezTo>
                    <a:pt x="114300" y="764656"/>
                    <a:pt x="91556" y="787400"/>
                    <a:pt x="63500" y="787400"/>
                  </a:cubicBezTo>
                  <a:lnTo>
                    <a:pt x="50800" y="787400"/>
                  </a:lnTo>
                  <a:cubicBezTo>
                    <a:pt x="22744" y="787400"/>
                    <a:pt x="0" y="764656"/>
                    <a:pt x="0" y="736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38100"/>
              <a:ext cx="1143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8" id="68"/>
          <p:cNvSpPr txBox="true"/>
          <p:nvPr/>
        </p:nvSpPr>
        <p:spPr>
          <a:xfrm rot="0">
            <a:off x="1428750" y="7829550"/>
            <a:ext cx="6667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08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2381250" y="7810500"/>
            <a:ext cx="1381125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Conclusiones y Aplicaciones Futuras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047750" y="9610725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POWEIGHT  /  02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1047750" y="8486775"/>
            <a:ext cx="16192500" cy="590550"/>
            <a:chOff x="0" y="0"/>
            <a:chExt cx="21590000" cy="78740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1590000" cy="787400"/>
            </a:xfrm>
            <a:custGeom>
              <a:avLst/>
              <a:gdLst/>
              <a:ahLst/>
              <a:cxnLst/>
              <a:rect r="r" b="b" t="t" l="l"/>
              <a:pathLst>
                <a:path h="787400" w="21590000">
                  <a:moveTo>
                    <a:pt x="127000" y="0"/>
                  </a:moveTo>
                  <a:lnTo>
                    <a:pt x="21463000" y="0"/>
                  </a:lnTo>
                  <a:cubicBezTo>
                    <a:pt x="21533140" y="0"/>
                    <a:pt x="21590000" y="56860"/>
                    <a:pt x="21590000" y="127000"/>
                  </a:cubicBezTo>
                  <a:lnTo>
                    <a:pt x="21590000" y="660400"/>
                  </a:lnTo>
                  <a:cubicBezTo>
                    <a:pt x="21590000" y="730540"/>
                    <a:pt x="21533140" y="787400"/>
                    <a:pt x="21463000" y="787400"/>
                  </a:cubicBezTo>
                  <a:lnTo>
                    <a:pt x="127000" y="787400"/>
                  </a:lnTo>
                  <a:cubicBezTo>
                    <a:pt x="56860" y="787400"/>
                    <a:pt x="0" y="730540"/>
                    <a:pt x="0" y="6604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215900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047750" y="8486775"/>
            <a:ext cx="85725" cy="590550"/>
            <a:chOff x="0" y="0"/>
            <a:chExt cx="114300" cy="78740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14300" cy="787400"/>
            </a:xfrm>
            <a:custGeom>
              <a:avLst/>
              <a:gdLst/>
              <a:ahLst/>
              <a:cxnLst/>
              <a:rect r="r" b="b" t="t" l="l"/>
              <a:pathLst>
                <a:path h="787400" w="114300">
                  <a:moveTo>
                    <a:pt x="50800" y="0"/>
                  </a:moveTo>
                  <a:lnTo>
                    <a:pt x="63500" y="0"/>
                  </a:lnTo>
                  <a:cubicBezTo>
                    <a:pt x="91556" y="0"/>
                    <a:pt x="114300" y="22744"/>
                    <a:pt x="114300" y="50800"/>
                  </a:cubicBezTo>
                  <a:lnTo>
                    <a:pt x="114300" y="736600"/>
                  </a:lnTo>
                  <a:cubicBezTo>
                    <a:pt x="114300" y="764656"/>
                    <a:pt x="91556" y="787400"/>
                    <a:pt x="63500" y="787400"/>
                  </a:cubicBezTo>
                  <a:lnTo>
                    <a:pt x="50800" y="787400"/>
                  </a:lnTo>
                  <a:cubicBezTo>
                    <a:pt x="22744" y="787400"/>
                    <a:pt x="0" y="764656"/>
                    <a:pt x="0" y="736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38100"/>
              <a:ext cx="1143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7" id="77"/>
          <p:cNvSpPr txBox="true"/>
          <p:nvPr/>
        </p:nvSpPr>
        <p:spPr>
          <a:xfrm rot="0">
            <a:off x="1428750" y="8610600"/>
            <a:ext cx="6667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09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2381250" y="8591550"/>
            <a:ext cx="13811250" cy="789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Preguntas y debate</a:t>
            </a:r>
          </a:p>
          <a:p>
            <a:pPr algn="l">
              <a:lnSpc>
                <a:spcPts val="3220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581025"/>
            <a:ext cx="38100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FUNDAMENTOS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1. Definición y Características Generales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47750" y="2333625"/>
            <a:ext cx="8858250" cy="5810250"/>
            <a:chOff x="0" y="0"/>
            <a:chExt cx="11811000" cy="7747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11000" cy="7747000"/>
            </a:xfrm>
            <a:custGeom>
              <a:avLst/>
              <a:gdLst/>
              <a:ahLst/>
              <a:cxnLst/>
              <a:rect r="r" b="b" t="t" l="l"/>
              <a:pathLst>
                <a:path h="7747000" w="11811000">
                  <a:moveTo>
                    <a:pt x="228600" y="0"/>
                  </a:moveTo>
                  <a:lnTo>
                    <a:pt x="11582400" y="0"/>
                  </a:lnTo>
                  <a:cubicBezTo>
                    <a:pt x="11708652" y="0"/>
                    <a:pt x="11811000" y="102348"/>
                    <a:pt x="11811000" y="228600"/>
                  </a:cubicBezTo>
                  <a:lnTo>
                    <a:pt x="11811000" y="7518400"/>
                  </a:lnTo>
                  <a:cubicBezTo>
                    <a:pt x="11811000" y="7644652"/>
                    <a:pt x="11708652" y="7747000"/>
                    <a:pt x="11582400" y="7747000"/>
                  </a:cubicBezTo>
                  <a:lnTo>
                    <a:pt x="228600" y="7747000"/>
                  </a:lnTo>
                  <a:cubicBezTo>
                    <a:pt x="102348" y="7747000"/>
                    <a:pt x="0" y="7644652"/>
                    <a:pt x="0" y="751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1811000" cy="778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476375" y="2647950"/>
            <a:ext cx="762000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¿Qué es PoWeight?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76375" y="3219450"/>
            <a:ext cx="7524750" cy="1590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Es un modelo de consenso donde la influencia de cada participante depende de un “peso” multifactorial.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76375" y="4895850"/>
            <a:ext cx="7524750" cy="1471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El peso combina tokens, antigüedad, almacenamiento y actividad para distribuir el derecho de participación.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476375" y="6664960"/>
            <a:ext cx="7524750" cy="1238250"/>
            <a:chOff x="0" y="0"/>
            <a:chExt cx="10033000" cy="1651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033000" cy="1651000"/>
            </a:xfrm>
            <a:custGeom>
              <a:avLst/>
              <a:gdLst/>
              <a:ahLst/>
              <a:cxnLst/>
              <a:rect r="r" b="b" t="t" l="l"/>
              <a:pathLst>
                <a:path h="1651000" w="10033000">
                  <a:moveTo>
                    <a:pt x="177800" y="0"/>
                  </a:moveTo>
                  <a:lnTo>
                    <a:pt x="9855200" y="0"/>
                  </a:lnTo>
                  <a:cubicBezTo>
                    <a:pt x="9953396" y="0"/>
                    <a:pt x="10033000" y="79604"/>
                    <a:pt x="10033000" y="177800"/>
                  </a:cubicBezTo>
                  <a:lnTo>
                    <a:pt x="10033000" y="1473200"/>
                  </a:lnTo>
                  <a:cubicBezTo>
                    <a:pt x="10033000" y="1571396"/>
                    <a:pt x="9953396" y="1651000"/>
                    <a:pt x="9855200" y="1651000"/>
                  </a:cubicBezTo>
                  <a:lnTo>
                    <a:pt x="177800" y="1651000"/>
                  </a:lnTo>
                  <a:cubicBezTo>
                    <a:pt x="79604" y="1651000"/>
                    <a:pt x="0" y="1571396"/>
                    <a:pt x="0" y="1473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0033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762125" y="6703060"/>
            <a:ext cx="17145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Objetivo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62125" y="6925310"/>
            <a:ext cx="6667500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Mitigar la plutocracia de PoS sin recurrir a minería intensiva.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334750" y="2571750"/>
            <a:ext cx="2571750" cy="1619250"/>
            <a:chOff x="0" y="0"/>
            <a:chExt cx="3429000" cy="2159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429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3429000">
                  <a:moveTo>
                    <a:pt x="203200" y="0"/>
                  </a:moveTo>
                  <a:lnTo>
                    <a:pt x="3225800" y="0"/>
                  </a:lnTo>
                  <a:cubicBezTo>
                    <a:pt x="3338024" y="0"/>
                    <a:pt x="3429000" y="90976"/>
                    <a:pt x="3429000" y="203200"/>
                  </a:cubicBezTo>
                  <a:lnTo>
                    <a:pt x="3429000" y="1955800"/>
                  </a:lnTo>
                  <a:cubicBezTo>
                    <a:pt x="3429000" y="2068024"/>
                    <a:pt x="3338024" y="2159000"/>
                    <a:pt x="3225800" y="2159000"/>
                  </a:cubicBezTo>
                  <a:lnTo>
                    <a:pt x="203200" y="2159000"/>
                  </a:lnTo>
                  <a:cubicBezTo>
                    <a:pt x="90976" y="2159000"/>
                    <a:pt x="0" y="2068024"/>
                    <a:pt x="0" y="1955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3429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1572875" y="2847975"/>
            <a:ext cx="2095500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TOKENS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572875" y="3276600"/>
            <a:ext cx="2095500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Participación económica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4287500" y="2571750"/>
            <a:ext cx="2571750" cy="1619250"/>
            <a:chOff x="0" y="0"/>
            <a:chExt cx="3429000" cy="2159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429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3429000">
                  <a:moveTo>
                    <a:pt x="203200" y="0"/>
                  </a:moveTo>
                  <a:lnTo>
                    <a:pt x="3225800" y="0"/>
                  </a:lnTo>
                  <a:cubicBezTo>
                    <a:pt x="3338024" y="0"/>
                    <a:pt x="3429000" y="90976"/>
                    <a:pt x="3429000" y="203200"/>
                  </a:cubicBezTo>
                  <a:lnTo>
                    <a:pt x="3429000" y="1955800"/>
                  </a:lnTo>
                  <a:cubicBezTo>
                    <a:pt x="3429000" y="2068024"/>
                    <a:pt x="3338024" y="2159000"/>
                    <a:pt x="3225800" y="2159000"/>
                  </a:cubicBezTo>
                  <a:lnTo>
                    <a:pt x="203200" y="2159000"/>
                  </a:lnTo>
                  <a:cubicBezTo>
                    <a:pt x="90976" y="2159000"/>
                    <a:pt x="0" y="2068024"/>
                    <a:pt x="0" y="1955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3429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4525625" y="2847975"/>
            <a:ext cx="2095500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ANTIGÜEDAD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4525625" y="3276600"/>
            <a:ext cx="2095500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Continuidad y confianza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1334750" y="4667250"/>
            <a:ext cx="2571750" cy="1619250"/>
            <a:chOff x="0" y="0"/>
            <a:chExt cx="3429000" cy="2159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429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3429000">
                  <a:moveTo>
                    <a:pt x="203200" y="0"/>
                  </a:moveTo>
                  <a:lnTo>
                    <a:pt x="3225800" y="0"/>
                  </a:lnTo>
                  <a:cubicBezTo>
                    <a:pt x="3338024" y="0"/>
                    <a:pt x="3429000" y="90976"/>
                    <a:pt x="3429000" y="203200"/>
                  </a:cubicBezTo>
                  <a:lnTo>
                    <a:pt x="3429000" y="1955800"/>
                  </a:lnTo>
                  <a:cubicBezTo>
                    <a:pt x="3429000" y="2068024"/>
                    <a:pt x="3338024" y="2159000"/>
                    <a:pt x="3225800" y="2159000"/>
                  </a:cubicBezTo>
                  <a:lnTo>
                    <a:pt x="203200" y="2159000"/>
                  </a:lnTo>
                  <a:cubicBezTo>
                    <a:pt x="90976" y="2159000"/>
                    <a:pt x="0" y="2068024"/>
                    <a:pt x="0" y="1955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3429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1572875" y="4943475"/>
            <a:ext cx="2095500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ALMACENAMIENTO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572875" y="5372100"/>
            <a:ext cx="2095500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Recurso útil verificable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4287500" y="4667250"/>
            <a:ext cx="2571750" cy="1619250"/>
            <a:chOff x="0" y="0"/>
            <a:chExt cx="3429000" cy="2159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429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3429000">
                  <a:moveTo>
                    <a:pt x="203200" y="0"/>
                  </a:moveTo>
                  <a:lnTo>
                    <a:pt x="3225800" y="0"/>
                  </a:lnTo>
                  <a:cubicBezTo>
                    <a:pt x="3338024" y="0"/>
                    <a:pt x="3429000" y="90976"/>
                    <a:pt x="3429000" y="203200"/>
                  </a:cubicBezTo>
                  <a:lnTo>
                    <a:pt x="3429000" y="1955800"/>
                  </a:lnTo>
                  <a:cubicBezTo>
                    <a:pt x="3429000" y="2068024"/>
                    <a:pt x="3338024" y="2159000"/>
                    <a:pt x="3225800" y="2159000"/>
                  </a:cubicBezTo>
                  <a:lnTo>
                    <a:pt x="203200" y="2159000"/>
                  </a:lnTo>
                  <a:cubicBezTo>
                    <a:pt x="90976" y="2159000"/>
                    <a:pt x="0" y="2068024"/>
                    <a:pt x="0" y="1955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3429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4525625" y="4943475"/>
            <a:ext cx="2095500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ACTIVIDAD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525625" y="5372100"/>
            <a:ext cx="2095500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Contribución sostenida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047750" y="9610725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POWEIGHT  /  03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581025"/>
            <a:ext cx="38100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MECANISMO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47750" y="847725"/>
            <a:ext cx="16192500" cy="811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19"/>
              </a:lnSpc>
            </a:pPr>
            <a:r>
              <a:rPr lang="en-US" sz="48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2. Mecanismo de Funcionamiento y VRF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47750" y="1714500"/>
            <a:ext cx="1428750" cy="66675"/>
            <a:chOff x="0" y="0"/>
            <a:chExt cx="1905000" cy="889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05000" cy="88900"/>
            </a:xfrm>
            <a:custGeom>
              <a:avLst/>
              <a:gdLst/>
              <a:ahLst/>
              <a:cxnLst/>
              <a:rect r="r" b="b" t="t" l="l"/>
              <a:pathLst>
                <a:path h="88900" w="1905000">
                  <a:moveTo>
                    <a:pt x="44450" y="0"/>
                  </a:moveTo>
                  <a:lnTo>
                    <a:pt x="1860550" y="0"/>
                  </a:lnTo>
                  <a:cubicBezTo>
                    <a:pt x="1885099" y="0"/>
                    <a:pt x="1905000" y="19901"/>
                    <a:pt x="1905000" y="44450"/>
                  </a:cubicBezTo>
                  <a:lnTo>
                    <a:pt x="1905000" y="44450"/>
                  </a:lnTo>
                  <a:cubicBezTo>
                    <a:pt x="1905000" y="68999"/>
                    <a:pt x="1885099" y="88900"/>
                    <a:pt x="1860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905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47750" y="2476500"/>
            <a:ext cx="3667125" cy="5334000"/>
            <a:chOff x="0" y="0"/>
            <a:chExt cx="4889500" cy="7112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889500" cy="7112000"/>
            </a:xfrm>
            <a:custGeom>
              <a:avLst/>
              <a:gdLst/>
              <a:ahLst/>
              <a:cxnLst/>
              <a:rect r="r" b="b" t="t" l="l"/>
              <a:pathLst>
                <a:path h="7112000" w="4889500">
                  <a:moveTo>
                    <a:pt x="228600" y="0"/>
                  </a:moveTo>
                  <a:lnTo>
                    <a:pt x="4660900" y="0"/>
                  </a:lnTo>
                  <a:cubicBezTo>
                    <a:pt x="4787152" y="0"/>
                    <a:pt x="4889500" y="102348"/>
                    <a:pt x="4889500" y="228600"/>
                  </a:cubicBezTo>
                  <a:lnTo>
                    <a:pt x="4889500" y="6883400"/>
                  </a:lnTo>
                  <a:cubicBezTo>
                    <a:pt x="4889500" y="7009652"/>
                    <a:pt x="4787152" y="7112000"/>
                    <a:pt x="4660900" y="7112000"/>
                  </a:cubicBezTo>
                  <a:lnTo>
                    <a:pt x="228600" y="7112000"/>
                  </a:lnTo>
                  <a:cubicBezTo>
                    <a:pt x="102348" y="7112000"/>
                    <a:pt x="0" y="7009652"/>
                    <a:pt x="0" y="6883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2A8793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48895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47750" y="2476500"/>
            <a:ext cx="3667125" cy="95250"/>
            <a:chOff x="0" y="0"/>
            <a:chExt cx="4889500" cy="127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889500" cy="127000"/>
            </a:xfrm>
            <a:custGeom>
              <a:avLst/>
              <a:gdLst/>
              <a:ahLst/>
              <a:cxnLst/>
              <a:rect r="r" b="b" t="t" l="l"/>
              <a:pathLst>
                <a:path h="127000" w="4889500">
                  <a:moveTo>
                    <a:pt x="63500" y="0"/>
                  </a:moveTo>
                  <a:lnTo>
                    <a:pt x="4826000" y="0"/>
                  </a:lnTo>
                  <a:cubicBezTo>
                    <a:pt x="4861070" y="0"/>
                    <a:pt x="4889500" y="28430"/>
                    <a:pt x="4889500" y="63500"/>
                  </a:cubicBezTo>
                  <a:lnTo>
                    <a:pt x="4889500" y="63500"/>
                  </a:lnTo>
                  <a:cubicBezTo>
                    <a:pt x="4889500" y="98570"/>
                    <a:pt x="4861070" y="127000"/>
                    <a:pt x="4826000" y="127000"/>
                  </a:cubicBezTo>
                  <a:lnTo>
                    <a:pt x="63500" y="127000"/>
                  </a:lnTo>
                  <a:cubicBezTo>
                    <a:pt x="28430" y="127000"/>
                    <a:pt x="0" y="98570"/>
                    <a:pt x="0" y="63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4889500" cy="16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314450" y="2733675"/>
            <a:ext cx="7620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14450" y="3371850"/>
            <a:ext cx="313372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Cálculo y Asignación de Pesos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4450" y="4257675"/>
            <a:ext cx="3133725" cy="871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La red calcula periódicamente el peso de cada nodo mediante una función multidimensional.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314450" y="5412759"/>
            <a:ext cx="3133725" cy="1000125"/>
            <a:chOff x="0" y="0"/>
            <a:chExt cx="4178300" cy="13335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1783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78300">
                  <a:moveTo>
                    <a:pt x="152400" y="0"/>
                  </a:moveTo>
                  <a:lnTo>
                    <a:pt x="4025900" y="0"/>
                  </a:lnTo>
                  <a:cubicBezTo>
                    <a:pt x="4110068" y="0"/>
                    <a:pt x="4178300" y="68232"/>
                    <a:pt x="4178300" y="152400"/>
                  </a:cubicBezTo>
                  <a:lnTo>
                    <a:pt x="4178300" y="1181100"/>
                  </a:lnTo>
                  <a:cubicBezTo>
                    <a:pt x="4178300" y="1265268"/>
                    <a:pt x="4110068" y="1333500"/>
                    <a:pt x="4025900" y="1333500"/>
                  </a:cubicBezTo>
                  <a:lnTo>
                    <a:pt x="152400" y="1333500"/>
                  </a:lnTo>
                  <a:cubicBezTo>
                    <a:pt x="68232" y="1333500"/>
                    <a:pt x="0" y="1265268"/>
                    <a:pt x="0" y="1181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41783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466850" y="5436927"/>
            <a:ext cx="2828925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W = f(Tokens, Antigüedad, Almacenamiento, Actividad)</a:t>
            </a:r>
          </a:p>
        </p:txBody>
      </p:sp>
      <p:sp>
        <p:nvSpPr>
          <p:cNvPr name="AutoShape 20" id="20"/>
          <p:cNvSpPr/>
          <p:nvPr/>
        </p:nvSpPr>
        <p:spPr>
          <a:xfrm>
            <a:off x="4762500" y="5191125"/>
            <a:ext cx="190500" cy="0"/>
          </a:xfrm>
          <a:prstGeom prst="line">
            <a:avLst/>
          </a:prstGeom>
          <a:ln cap="flat" w="38100">
            <a:solidFill>
              <a:srgbClr val="169DB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1" id="21"/>
          <p:cNvGrpSpPr/>
          <p:nvPr/>
        </p:nvGrpSpPr>
        <p:grpSpPr>
          <a:xfrm rot="0">
            <a:off x="5000625" y="2476500"/>
            <a:ext cx="3667125" cy="5334000"/>
            <a:chOff x="0" y="0"/>
            <a:chExt cx="4889500" cy="7112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889500" cy="7112000"/>
            </a:xfrm>
            <a:custGeom>
              <a:avLst/>
              <a:gdLst/>
              <a:ahLst/>
              <a:cxnLst/>
              <a:rect r="r" b="b" t="t" l="l"/>
              <a:pathLst>
                <a:path h="7112000" w="4889500">
                  <a:moveTo>
                    <a:pt x="228600" y="0"/>
                  </a:moveTo>
                  <a:lnTo>
                    <a:pt x="4660900" y="0"/>
                  </a:lnTo>
                  <a:cubicBezTo>
                    <a:pt x="4787152" y="0"/>
                    <a:pt x="4889500" y="102348"/>
                    <a:pt x="4889500" y="228600"/>
                  </a:cubicBezTo>
                  <a:lnTo>
                    <a:pt x="4889500" y="6883400"/>
                  </a:lnTo>
                  <a:cubicBezTo>
                    <a:pt x="4889500" y="7009652"/>
                    <a:pt x="4787152" y="7112000"/>
                    <a:pt x="4660900" y="7112000"/>
                  </a:cubicBezTo>
                  <a:lnTo>
                    <a:pt x="228600" y="7112000"/>
                  </a:lnTo>
                  <a:cubicBezTo>
                    <a:pt x="102348" y="7112000"/>
                    <a:pt x="0" y="7009652"/>
                    <a:pt x="0" y="6883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2A8793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48895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5000625" y="2476500"/>
            <a:ext cx="3667125" cy="95250"/>
            <a:chOff x="0" y="0"/>
            <a:chExt cx="4889500" cy="127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889500" cy="127000"/>
            </a:xfrm>
            <a:custGeom>
              <a:avLst/>
              <a:gdLst/>
              <a:ahLst/>
              <a:cxnLst/>
              <a:rect r="r" b="b" t="t" l="l"/>
              <a:pathLst>
                <a:path h="127000" w="4889500">
                  <a:moveTo>
                    <a:pt x="63500" y="0"/>
                  </a:moveTo>
                  <a:lnTo>
                    <a:pt x="4826000" y="0"/>
                  </a:lnTo>
                  <a:cubicBezTo>
                    <a:pt x="4861070" y="0"/>
                    <a:pt x="4889500" y="28430"/>
                    <a:pt x="4889500" y="63500"/>
                  </a:cubicBezTo>
                  <a:lnTo>
                    <a:pt x="4889500" y="63500"/>
                  </a:lnTo>
                  <a:cubicBezTo>
                    <a:pt x="4889500" y="98570"/>
                    <a:pt x="4861070" y="127000"/>
                    <a:pt x="4826000" y="127000"/>
                  </a:cubicBezTo>
                  <a:lnTo>
                    <a:pt x="63500" y="127000"/>
                  </a:lnTo>
                  <a:cubicBezTo>
                    <a:pt x="28430" y="127000"/>
                    <a:pt x="0" y="98570"/>
                    <a:pt x="0" y="63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4889500" cy="16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5267325" y="2733675"/>
            <a:ext cx="7620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02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267325" y="3371850"/>
            <a:ext cx="313372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Selección Criptográfica (VRF)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5267325" y="4267200"/>
            <a:ext cx="3133725" cy="2272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7"/>
              </a:lnSpc>
            </a:pPr>
            <a:r>
              <a:rPr lang="en-US" sz="1298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Se utilizan Funciones Pseudoaleatorias Verificables (VRF) para elegir líderes y comités de forma descentralizada y privada.</a:t>
            </a:r>
          </a:p>
          <a:p>
            <a:pPr algn="l">
              <a:lnSpc>
                <a:spcPts val="1817"/>
              </a:lnSpc>
            </a:pPr>
          </a:p>
          <a:p>
            <a:pPr algn="l">
              <a:lnSpc>
                <a:spcPts val="1817"/>
              </a:lnSpc>
            </a:pPr>
            <a:r>
              <a:rPr lang="en-US" sz="1298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A mayor peso, mayor probabilidad de selección.</a:t>
            </a:r>
          </a:p>
          <a:p>
            <a:pPr algn="l">
              <a:lnSpc>
                <a:spcPts val="1817"/>
              </a:lnSpc>
            </a:pPr>
          </a:p>
          <a:p>
            <a:pPr algn="l">
              <a:lnSpc>
                <a:spcPts val="1817"/>
              </a:lnSpc>
            </a:pPr>
            <a:r>
              <a:rPr lang="en-US" sz="1298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La identidad del proponente permanece oculta hasta revelar su prueba, evitando ataques dirigidos.</a:t>
            </a:r>
          </a:p>
        </p:txBody>
      </p:sp>
      <p:sp>
        <p:nvSpPr>
          <p:cNvPr name="AutoShape 30" id="30"/>
          <p:cNvSpPr/>
          <p:nvPr/>
        </p:nvSpPr>
        <p:spPr>
          <a:xfrm>
            <a:off x="8715375" y="5191125"/>
            <a:ext cx="190500" cy="0"/>
          </a:xfrm>
          <a:prstGeom prst="line">
            <a:avLst/>
          </a:prstGeom>
          <a:ln cap="flat" w="38100">
            <a:solidFill>
              <a:srgbClr val="169DB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1" id="31"/>
          <p:cNvGrpSpPr/>
          <p:nvPr/>
        </p:nvGrpSpPr>
        <p:grpSpPr>
          <a:xfrm rot="0">
            <a:off x="8953500" y="2476500"/>
            <a:ext cx="3667125" cy="5334000"/>
            <a:chOff x="0" y="0"/>
            <a:chExt cx="4889500" cy="71120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889500" cy="7112000"/>
            </a:xfrm>
            <a:custGeom>
              <a:avLst/>
              <a:gdLst/>
              <a:ahLst/>
              <a:cxnLst/>
              <a:rect r="r" b="b" t="t" l="l"/>
              <a:pathLst>
                <a:path h="7112000" w="4889500">
                  <a:moveTo>
                    <a:pt x="228600" y="0"/>
                  </a:moveTo>
                  <a:lnTo>
                    <a:pt x="4660900" y="0"/>
                  </a:lnTo>
                  <a:cubicBezTo>
                    <a:pt x="4787152" y="0"/>
                    <a:pt x="4889500" y="102348"/>
                    <a:pt x="4889500" y="228600"/>
                  </a:cubicBezTo>
                  <a:lnTo>
                    <a:pt x="4889500" y="6883400"/>
                  </a:lnTo>
                  <a:cubicBezTo>
                    <a:pt x="4889500" y="7009652"/>
                    <a:pt x="4787152" y="7112000"/>
                    <a:pt x="4660900" y="7112000"/>
                  </a:cubicBezTo>
                  <a:lnTo>
                    <a:pt x="228600" y="7112000"/>
                  </a:lnTo>
                  <a:cubicBezTo>
                    <a:pt x="102348" y="7112000"/>
                    <a:pt x="0" y="7009652"/>
                    <a:pt x="0" y="6883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2A8793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48895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8953500" y="2476500"/>
            <a:ext cx="3667125" cy="95250"/>
            <a:chOff x="0" y="0"/>
            <a:chExt cx="4889500" cy="127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889500" cy="127000"/>
            </a:xfrm>
            <a:custGeom>
              <a:avLst/>
              <a:gdLst/>
              <a:ahLst/>
              <a:cxnLst/>
              <a:rect r="r" b="b" t="t" l="l"/>
              <a:pathLst>
                <a:path h="127000" w="4889500">
                  <a:moveTo>
                    <a:pt x="63500" y="0"/>
                  </a:moveTo>
                  <a:lnTo>
                    <a:pt x="4826000" y="0"/>
                  </a:lnTo>
                  <a:cubicBezTo>
                    <a:pt x="4861070" y="0"/>
                    <a:pt x="4889500" y="28430"/>
                    <a:pt x="4889500" y="63500"/>
                  </a:cubicBezTo>
                  <a:lnTo>
                    <a:pt x="4889500" y="63500"/>
                  </a:lnTo>
                  <a:cubicBezTo>
                    <a:pt x="4889500" y="98570"/>
                    <a:pt x="4861070" y="127000"/>
                    <a:pt x="4826000" y="127000"/>
                  </a:cubicBezTo>
                  <a:lnTo>
                    <a:pt x="63500" y="127000"/>
                  </a:lnTo>
                  <a:cubicBezTo>
                    <a:pt x="28430" y="127000"/>
                    <a:pt x="0" y="98570"/>
                    <a:pt x="0" y="63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4889500" cy="16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9220200" y="2733675"/>
            <a:ext cx="7620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03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9220200" y="3371850"/>
            <a:ext cx="313372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Propuesta y Votación Bizantina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220200" y="4257675"/>
            <a:ext cx="3133725" cy="2642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El líder propone el nuevo bloque acompañado de su certificado criptográfico VRF.</a:t>
            </a:r>
          </a:p>
          <a:p>
            <a:pPr algn="l">
              <a:lnSpc>
                <a:spcPts val="2380"/>
              </a:lnSpc>
            </a:pPr>
          </a:p>
          <a:p>
            <a:pPr algn="l">
              <a:lnSpc>
                <a:spcPts val="2380"/>
              </a:lnSpc>
            </a:pPr>
            <a:r>
              <a:rPr lang="en-US" sz="1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Un comité rotatorio de validadores valida el bloque mediante rondas rápidas de intercambio de mensajes de consenso.</a:t>
            </a:r>
          </a:p>
        </p:txBody>
      </p:sp>
      <p:sp>
        <p:nvSpPr>
          <p:cNvPr name="AutoShape 40" id="40"/>
          <p:cNvSpPr/>
          <p:nvPr/>
        </p:nvSpPr>
        <p:spPr>
          <a:xfrm>
            <a:off x="12668250" y="5191125"/>
            <a:ext cx="190500" cy="0"/>
          </a:xfrm>
          <a:prstGeom prst="line">
            <a:avLst/>
          </a:prstGeom>
          <a:ln cap="flat" w="38100">
            <a:solidFill>
              <a:srgbClr val="169DB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41" id="41"/>
          <p:cNvGrpSpPr/>
          <p:nvPr/>
        </p:nvGrpSpPr>
        <p:grpSpPr>
          <a:xfrm rot="0">
            <a:off x="12906375" y="2476500"/>
            <a:ext cx="3667125" cy="5334000"/>
            <a:chOff x="0" y="0"/>
            <a:chExt cx="4889500" cy="71120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889500" cy="7112000"/>
            </a:xfrm>
            <a:custGeom>
              <a:avLst/>
              <a:gdLst/>
              <a:ahLst/>
              <a:cxnLst/>
              <a:rect r="r" b="b" t="t" l="l"/>
              <a:pathLst>
                <a:path h="7112000" w="4889500">
                  <a:moveTo>
                    <a:pt x="228600" y="0"/>
                  </a:moveTo>
                  <a:lnTo>
                    <a:pt x="4660900" y="0"/>
                  </a:lnTo>
                  <a:cubicBezTo>
                    <a:pt x="4787152" y="0"/>
                    <a:pt x="4889500" y="102348"/>
                    <a:pt x="4889500" y="228600"/>
                  </a:cubicBezTo>
                  <a:lnTo>
                    <a:pt x="4889500" y="6883400"/>
                  </a:lnTo>
                  <a:cubicBezTo>
                    <a:pt x="4889500" y="7009652"/>
                    <a:pt x="4787152" y="7112000"/>
                    <a:pt x="4660900" y="7112000"/>
                  </a:cubicBezTo>
                  <a:lnTo>
                    <a:pt x="228600" y="7112000"/>
                  </a:lnTo>
                  <a:cubicBezTo>
                    <a:pt x="102348" y="7112000"/>
                    <a:pt x="0" y="7009652"/>
                    <a:pt x="0" y="6883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2A8793"/>
              </a:solidFill>
              <a:prstDash val="solid"/>
              <a:miter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48895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906375" y="2476500"/>
            <a:ext cx="3667125" cy="95250"/>
            <a:chOff x="0" y="0"/>
            <a:chExt cx="4889500" cy="127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889500" cy="127000"/>
            </a:xfrm>
            <a:custGeom>
              <a:avLst/>
              <a:gdLst/>
              <a:ahLst/>
              <a:cxnLst/>
              <a:rect r="r" b="b" t="t" l="l"/>
              <a:pathLst>
                <a:path h="127000" w="4889500">
                  <a:moveTo>
                    <a:pt x="63500" y="0"/>
                  </a:moveTo>
                  <a:lnTo>
                    <a:pt x="4826000" y="0"/>
                  </a:lnTo>
                  <a:cubicBezTo>
                    <a:pt x="4861070" y="0"/>
                    <a:pt x="4889500" y="28430"/>
                    <a:pt x="4889500" y="63500"/>
                  </a:cubicBezTo>
                  <a:lnTo>
                    <a:pt x="4889500" y="63500"/>
                  </a:lnTo>
                  <a:cubicBezTo>
                    <a:pt x="4889500" y="98570"/>
                    <a:pt x="4861070" y="127000"/>
                    <a:pt x="4826000" y="127000"/>
                  </a:cubicBezTo>
                  <a:lnTo>
                    <a:pt x="63500" y="127000"/>
                  </a:lnTo>
                  <a:cubicBezTo>
                    <a:pt x="28430" y="127000"/>
                    <a:pt x="0" y="98570"/>
                    <a:pt x="0" y="63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4889500" cy="16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13173075" y="2733675"/>
            <a:ext cx="7620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04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3173075" y="3371850"/>
            <a:ext cx="313372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Finalidad Determinista Inmediata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3173075" y="4257675"/>
            <a:ext cx="3133725" cy="2052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Al alcanzarse el quórum de votos necesario (tolerancia a fallos bizantinos), el bloque se añade de forma irreversible al registro.</a:t>
            </a:r>
          </a:p>
          <a:p>
            <a:pPr algn="l">
              <a:lnSpc>
                <a:spcPts val="2380"/>
              </a:lnSpc>
            </a:pPr>
          </a:p>
          <a:p>
            <a:pPr algn="l">
              <a:lnSpc>
                <a:spcPts val="2380"/>
              </a:lnSpc>
            </a:pPr>
            <a:r>
              <a:rPr lang="en-US" sz="17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Elimina el riesgo de bifurcaciones (forks).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047750" y="8191500"/>
            <a:ext cx="16192500" cy="1143000"/>
            <a:chOff x="0" y="0"/>
            <a:chExt cx="21590000" cy="15240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21590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21590000">
                  <a:moveTo>
                    <a:pt x="203200" y="0"/>
                  </a:moveTo>
                  <a:lnTo>
                    <a:pt x="21386800" y="0"/>
                  </a:lnTo>
                  <a:cubicBezTo>
                    <a:pt x="21499024" y="0"/>
                    <a:pt x="21590000" y="90976"/>
                    <a:pt x="21590000" y="203200"/>
                  </a:cubicBezTo>
                  <a:lnTo>
                    <a:pt x="21590000" y="1320800"/>
                  </a:lnTo>
                  <a:cubicBezTo>
                    <a:pt x="21590000" y="1433024"/>
                    <a:pt x="21499024" y="1524000"/>
                    <a:pt x="21386800" y="1524000"/>
                  </a:cubicBezTo>
                  <a:lnTo>
                    <a:pt x="203200" y="1524000"/>
                  </a:lnTo>
                  <a:cubicBezTo>
                    <a:pt x="90976" y="1524000"/>
                    <a:pt x="0" y="1433024"/>
                    <a:pt x="0" y="1320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EF6F7"/>
            </a:solidFill>
            <a:ln w="19050" cap="sq">
              <a:solidFill>
                <a:srgbClr val="22C7D6"/>
              </a:solidFill>
              <a:prstDash val="solid"/>
              <a:miter/>
            </a:ln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21590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1381125" y="8429625"/>
            <a:ext cx="238125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CONCEPTO CLAVE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4000500" y="8382000"/>
            <a:ext cx="1362075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La VRF garantiza aleatoriedad justa proporcional al peso y seguridad frente a ataques DoS.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047750" y="9610725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POWEIGHT  /  04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581025"/>
            <a:ext cx="38100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EVALUACIÓN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3. Ventajas e Inconvenientes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47750" y="2476500"/>
            <a:ext cx="7572375" cy="5334000"/>
            <a:chOff x="0" y="0"/>
            <a:chExt cx="10096500" cy="7112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96500" cy="7112000"/>
            </a:xfrm>
            <a:custGeom>
              <a:avLst/>
              <a:gdLst/>
              <a:ahLst/>
              <a:cxnLst/>
              <a:rect r="r" b="b" t="t" l="l"/>
              <a:pathLst>
                <a:path h="7112000" w="10096500">
                  <a:moveTo>
                    <a:pt x="228600" y="0"/>
                  </a:moveTo>
                  <a:lnTo>
                    <a:pt x="9867900" y="0"/>
                  </a:lnTo>
                  <a:cubicBezTo>
                    <a:pt x="9994152" y="0"/>
                    <a:pt x="10096500" y="102348"/>
                    <a:pt x="10096500" y="228600"/>
                  </a:cubicBezTo>
                  <a:lnTo>
                    <a:pt x="10096500" y="6883400"/>
                  </a:lnTo>
                  <a:cubicBezTo>
                    <a:pt x="10096500" y="7009652"/>
                    <a:pt x="9994152" y="7112000"/>
                    <a:pt x="9867900" y="7112000"/>
                  </a:cubicBezTo>
                  <a:lnTo>
                    <a:pt x="228600" y="7112000"/>
                  </a:lnTo>
                  <a:cubicBezTo>
                    <a:pt x="102348" y="7112000"/>
                    <a:pt x="0" y="7009652"/>
                    <a:pt x="0" y="6883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0965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667875" y="2476500"/>
            <a:ext cx="7572375" cy="5334000"/>
            <a:chOff x="0" y="0"/>
            <a:chExt cx="100965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096500" cy="7112000"/>
            </a:xfrm>
            <a:custGeom>
              <a:avLst/>
              <a:gdLst/>
              <a:ahLst/>
              <a:cxnLst/>
              <a:rect r="r" b="b" t="t" l="l"/>
              <a:pathLst>
                <a:path h="7112000" w="10096500">
                  <a:moveTo>
                    <a:pt x="228600" y="0"/>
                  </a:moveTo>
                  <a:lnTo>
                    <a:pt x="9867900" y="0"/>
                  </a:lnTo>
                  <a:cubicBezTo>
                    <a:pt x="9994152" y="0"/>
                    <a:pt x="10096500" y="102348"/>
                    <a:pt x="10096500" y="228600"/>
                  </a:cubicBezTo>
                  <a:lnTo>
                    <a:pt x="10096500" y="6883400"/>
                  </a:lnTo>
                  <a:cubicBezTo>
                    <a:pt x="10096500" y="7009652"/>
                    <a:pt x="9994152" y="7112000"/>
                    <a:pt x="9867900" y="7112000"/>
                  </a:cubicBezTo>
                  <a:lnTo>
                    <a:pt x="228600" y="7112000"/>
                  </a:lnTo>
                  <a:cubicBezTo>
                    <a:pt x="102348" y="7112000"/>
                    <a:pt x="0" y="7009652"/>
                    <a:pt x="0" y="6883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00965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47750" y="2476500"/>
            <a:ext cx="7572375" cy="781050"/>
            <a:chOff x="0" y="0"/>
            <a:chExt cx="10096500" cy="1041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096500" cy="1041400"/>
            </a:xfrm>
            <a:custGeom>
              <a:avLst/>
              <a:gdLst/>
              <a:ahLst/>
              <a:cxnLst/>
              <a:rect r="r" b="b" t="t" l="l"/>
              <a:pathLst>
                <a:path h="1041400" w="10096500">
                  <a:moveTo>
                    <a:pt x="228600" y="0"/>
                  </a:moveTo>
                  <a:lnTo>
                    <a:pt x="9867900" y="0"/>
                  </a:lnTo>
                  <a:cubicBezTo>
                    <a:pt x="9994152" y="0"/>
                    <a:pt x="10096500" y="102348"/>
                    <a:pt x="10096500" y="228600"/>
                  </a:cubicBezTo>
                  <a:lnTo>
                    <a:pt x="10096500" y="812800"/>
                  </a:lnTo>
                  <a:cubicBezTo>
                    <a:pt x="10096500" y="939052"/>
                    <a:pt x="9994152" y="1041400"/>
                    <a:pt x="9867900" y="1041400"/>
                  </a:cubicBezTo>
                  <a:lnTo>
                    <a:pt x="228600" y="1041400"/>
                  </a:lnTo>
                  <a:cubicBezTo>
                    <a:pt x="102348" y="1041400"/>
                    <a:pt x="0" y="939052"/>
                    <a:pt x="0" y="8128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0096500" cy="1079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667875" y="2476500"/>
            <a:ext cx="7572375" cy="781050"/>
            <a:chOff x="0" y="0"/>
            <a:chExt cx="10096500" cy="10414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096500" cy="1041400"/>
            </a:xfrm>
            <a:custGeom>
              <a:avLst/>
              <a:gdLst/>
              <a:ahLst/>
              <a:cxnLst/>
              <a:rect r="r" b="b" t="t" l="l"/>
              <a:pathLst>
                <a:path h="1041400" w="10096500">
                  <a:moveTo>
                    <a:pt x="228600" y="0"/>
                  </a:moveTo>
                  <a:lnTo>
                    <a:pt x="9867900" y="0"/>
                  </a:lnTo>
                  <a:cubicBezTo>
                    <a:pt x="9994152" y="0"/>
                    <a:pt x="10096500" y="102348"/>
                    <a:pt x="10096500" y="228600"/>
                  </a:cubicBezTo>
                  <a:lnTo>
                    <a:pt x="10096500" y="812800"/>
                  </a:lnTo>
                  <a:cubicBezTo>
                    <a:pt x="10096500" y="939052"/>
                    <a:pt x="9994152" y="1041400"/>
                    <a:pt x="9867900" y="1041400"/>
                  </a:cubicBezTo>
                  <a:lnTo>
                    <a:pt x="228600" y="1041400"/>
                  </a:lnTo>
                  <a:cubicBezTo>
                    <a:pt x="102348" y="1041400"/>
                    <a:pt x="0" y="939052"/>
                    <a:pt x="0" y="8128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DF4F3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0096500" cy="1079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476375" y="2714625"/>
            <a:ext cx="47625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VENTAJAS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096500" y="2714625"/>
            <a:ext cx="57150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INCONVENIENTES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76375" y="3790950"/>
            <a:ext cx="4762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+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095500" y="3838575"/>
            <a:ext cx="5905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Sostenibilidad energética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476375" y="4838700"/>
            <a:ext cx="4762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+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095500" y="4886325"/>
            <a:ext cx="5905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Mayor democratización frente al capital puro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76375" y="5886450"/>
            <a:ext cx="4762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+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095500" y="5934075"/>
            <a:ext cx="5905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Alta escalabilidad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096500" y="3790950"/>
            <a:ext cx="4762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—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715625" y="3838575"/>
            <a:ext cx="5905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Complejidad criptográfica de auditoría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096500" y="4838700"/>
            <a:ext cx="4762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—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715625" y="4886325"/>
            <a:ext cx="5905500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Riesgo de sesgo histórico (efecto bola de nieve)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096500" y="5886450"/>
            <a:ext cx="4762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—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715625" y="5934075"/>
            <a:ext cx="5905500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Necesidad de penalizaciones estrictas (slashing)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47750" y="9610725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POWEIGHT  /  05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581025"/>
            <a:ext cx="38100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SEGURIDAD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4. Seguridad y Principales Ataques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47750" y="2571750"/>
            <a:ext cx="7524750" cy="2190750"/>
            <a:chOff x="0" y="0"/>
            <a:chExt cx="10033000" cy="2921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3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0033000">
                  <a:moveTo>
                    <a:pt x="203200" y="0"/>
                  </a:moveTo>
                  <a:lnTo>
                    <a:pt x="9829800" y="0"/>
                  </a:lnTo>
                  <a:cubicBezTo>
                    <a:pt x="9942024" y="0"/>
                    <a:pt x="10033000" y="90976"/>
                    <a:pt x="10033000" y="203200"/>
                  </a:cubicBezTo>
                  <a:lnTo>
                    <a:pt x="10033000" y="2717800"/>
                  </a:lnTo>
                  <a:cubicBezTo>
                    <a:pt x="10033000" y="2830024"/>
                    <a:pt x="9942024" y="2921000"/>
                    <a:pt x="9829800" y="2921000"/>
                  </a:cubicBezTo>
                  <a:lnTo>
                    <a:pt x="203200" y="2921000"/>
                  </a:lnTo>
                  <a:cubicBezTo>
                    <a:pt x="90976" y="2921000"/>
                    <a:pt x="0" y="2830024"/>
                    <a:pt x="0" y="2717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03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47750" y="2571750"/>
            <a:ext cx="95250" cy="2190750"/>
            <a:chOff x="0" y="0"/>
            <a:chExt cx="127000" cy="2921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7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27000">
                  <a:moveTo>
                    <a:pt x="50800" y="0"/>
                  </a:moveTo>
                  <a:lnTo>
                    <a:pt x="76200" y="0"/>
                  </a:lnTo>
                  <a:cubicBezTo>
                    <a:pt x="104256" y="0"/>
                    <a:pt x="127000" y="22744"/>
                    <a:pt x="127000" y="50800"/>
                  </a:cubicBezTo>
                  <a:lnTo>
                    <a:pt x="127000" y="2870200"/>
                  </a:lnTo>
                  <a:cubicBezTo>
                    <a:pt x="127000" y="2898256"/>
                    <a:pt x="104256" y="2921000"/>
                    <a:pt x="76200" y="2921000"/>
                  </a:cubicBezTo>
                  <a:lnTo>
                    <a:pt x="50800" y="2921000"/>
                  </a:lnTo>
                  <a:cubicBezTo>
                    <a:pt x="22744" y="2921000"/>
                    <a:pt x="0" y="2898256"/>
                    <a:pt x="0" y="2870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27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381125" y="2809875"/>
            <a:ext cx="6667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286000" y="2895600"/>
            <a:ext cx="571500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ATAQUES DE MAYORÍA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286000" y="3467100"/>
            <a:ext cx="566737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&gt;33% puede paralizar la liveness; &gt;51% permite reorganización.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334500" y="2571750"/>
            <a:ext cx="7524750" cy="2190750"/>
            <a:chOff x="0" y="0"/>
            <a:chExt cx="10033000" cy="2921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03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0033000">
                  <a:moveTo>
                    <a:pt x="203200" y="0"/>
                  </a:moveTo>
                  <a:lnTo>
                    <a:pt x="9829800" y="0"/>
                  </a:lnTo>
                  <a:cubicBezTo>
                    <a:pt x="9942024" y="0"/>
                    <a:pt x="10033000" y="90976"/>
                    <a:pt x="10033000" y="203200"/>
                  </a:cubicBezTo>
                  <a:lnTo>
                    <a:pt x="10033000" y="2717800"/>
                  </a:lnTo>
                  <a:cubicBezTo>
                    <a:pt x="10033000" y="2830024"/>
                    <a:pt x="9942024" y="2921000"/>
                    <a:pt x="9829800" y="2921000"/>
                  </a:cubicBezTo>
                  <a:lnTo>
                    <a:pt x="203200" y="2921000"/>
                  </a:lnTo>
                  <a:cubicBezTo>
                    <a:pt x="90976" y="2921000"/>
                    <a:pt x="0" y="2830024"/>
                    <a:pt x="0" y="2717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003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334500" y="2571750"/>
            <a:ext cx="95250" cy="2190750"/>
            <a:chOff x="0" y="0"/>
            <a:chExt cx="127000" cy="292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27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27000">
                  <a:moveTo>
                    <a:pt x="50800" y="0"/>
                  </a:moveTo>
                  <a:lnTo>
                    <a:pt x="76200" y="0"/>
                  </a:lnTo>
                  <a:cubicBezTo>
                    <a:pt x="104256" y="0"/>
                    <a:pt x="127000" y="22744"/>
                    <a:pt x="127000" y="50800"/>
                  </a:cubicBezTo>
                  <a:lnTo>
                    <a:pt x="127000" y="2870200"/>
                  </a:lnTo>
                  <a:cubicBezTo>
                    <a:pt x="127000" y="2898256"/>
                    <a:pt x="104256" y="2921000"/>
                    <a:pt x="76200" y="2921000"/>
                  </a:cubicBezTo>
                  <a:lnTo>
                    <a:pt x="50800" y="2921000"/>
                  </a:lnTo>
                  <a:cubicBezTo>
                    <a:pt x="22744" y="2921000"/>
                    <a:pt x="0" y="2898256"/>
                    <a:pt x="0" y="2870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27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9667875" y="2809875"/>
            <a:ext cx="6667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572750" y="2895600"/>
            <a:ext cx="571500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CORRUPCIÓN DE LÍDERES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572750" y="3467100"/>
            <a:ext cx="566737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La VRF mitiga el riesgo ocultando las identidades hasta la selección.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047750" y="5334000"/>
            <a:ext cx="7524750" cy="2190750"/>
            <a:chOff x="0" y="0"/>
            <a:chExt cx="10033000" cy="2921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03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0033000">
                  <a:moveTo>
                    <a:pt x="203200" y="0"/>
                  </a:moveTo>
                  <a:lnTo>
                    <a:pt x="9829800" y="0"/>
                  </a:lnTo>
                  <a:cubicBezTo>
                    <a:pt x="9942024" y="0"/>
                    <a:pt x="10033000" y="90976"/>
                    <a:pt x="10033000" y="203200"/>
                  </a:cubicBezTo>
                  <a:lnTo>
                    <a:pt x="10033000" y="2717800"/>
                  </a:lnTo>
                  <a:cubicBezTo>
                    <a:pt x="10033000" y="2830024"/>
                    <a:pt x="9942024" y="2921000"/>
                    <a:pt x="9829800" y="2921000"/>
                  </a:cubicBezTo>
                  <a:lnTo>
                    <a:pt x="203200" y="2921000"/>
                  </a:lnTo>
                  <a:cubicBezTo>
                    <a:pt x="90976" y="2921000"/>
                    <a:pt x="0" y="2830024"/>
                    <a:pt x="0" y="2717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1003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47750" y="5334000"/>
            <a:ext cx="95250" cy="2190750"/>
            <a:chOff x="0" y="0"/>
            <a:chExt cx="127000" cy="2921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27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27000">
                  <a:moveTo>
                    <a:pt x="50800" y="0"/>
                  </a:moveTo>
                  <a:lnTo>
                    <a:pt x="76200" y="0"/>
                  </a:lnTo>
                  <a:cubicBezTo>
                    <a:pt x="104256" y="0"/>
                    <a:pt x="127000" y="22744"/>
                    <a:pt x="127000" y="50800"/>
                  </a:cubicBezTo>
                  <a:lnTo>
                    <a:pt x="127000" y="2870200"/>
                  </a:lnTo>
                  <a:cubicBezTo>
                    <a:pt x="127000" y="2898256"/>
                    <a:pt x="104256" y="2921000"/>
                    <a:pt x="76200" y="2921000"/>
                  </a:cubicBezTo>
                  <a:lnTo>
                    <a:pt x="50800" y="2921000"/>
                  </a:lnTo>
                  <a:cubicBezTo>
                    <a:pt x="22744" y="2921000"/>
                    <a:pt x="0" y="2898256"/>
                    <a:pt x="0" y="2870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27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81125" y="5572125"/>
            <a:ext cx="6667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03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286000" y="5657850"/>
            <a:ext cx="571500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MANIPULACIÓN DE PESO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286000" y="6229350"/>
            <a:ext cx="566737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Weight Grinding: alterar entradas para influir en el resultado.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334500" y="5334000"/>
            <a:ext cx="7524750" cy="2190750"/>
            <a:chOff x="0" y="0"/>
            <a:chExt cx="10033000" cy="2921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03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0033000">
                  <a:moveTo>
                    <a:pt x="203200" y="0"/>
                  </a:moveTo>
                  <a:lnTo>
                    <a:pt x="9829800" y="0"/>
                  </a:lnTo>
                  <a:cubicBezTo>
                    <a:pt x="9942024" y="0"/>
                    <a:pt x="10033000" y="90976"/>
                    <a:pt x="10033000" y="203200"/>
                  </a:cubicBezTo>
                  <a:lnTo>
                    <a:pt x="10033000" y="2717800"/>
                  </a:lnTo>
                  <a:cubicBezTo>
                    <a:pt x="10033000" y="2830024"/>
                    <a:pt x="9942024" y="2921000"/>
                    <a:pt x="9829800" y="2921000"/>
                  </a:cubicBezTo>
                  <a:lnTo>
                    <a:pt x="203200" y="2921000"/>
                  </a:lnTo>
                  <a:cubicBezTo>
                    <a:pt x="90976" y="2921000"/>
                    <a:pt x="0" y="2830024"/>
                    <a:pt x="0" y="2717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1003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9334500" y="5334000"/>
            <a:ext cx="95250" cy="2190750"/>
            <a:chOff x="0" y="0"/>
            <a:chExt cx="127000" cy="29210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27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27000">
                  <a:moveTo>
                    <a:pt x="50800" y="0"/>
                  </a:moveTo>
                  <a:lnTo>
                    <a:pt x="76200" y="0"/>
                  </a:lnTo>
                  <a:cubicBezTo>
                    <a:pt x="104256" y="0"/>
                    <a:pt x="127000" y="22744"/>
                    <a:pt x="127000" y="50800"/>
                  </a:cubicBezTo>
                  <a:lnTo>
                    <a:pt x="127000" y="2870200"/>
                  </a:lnTo>
                  <a:cubicBezTo>
                    <a:pt x="127000" y="2898256"/>
                    <a:pt x="104256" y="2921000"/>
                    <a:pt x="76200" y="2921000"/>
                  </a:cubicBezTo>
                  <a:lnTo>
                    <a:pt x="50800" y="2921000"/>
                  </a:lnTo>
                  <a:cubicBezTo>
                    <a:pt x="22744" y="2921000"/>
                    <a:pt x="0" y="2898256"/>
                    <a:pt x="0" y="2870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27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9667875" y="5572125"/>
            <a:ext cx="6667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04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572750" y="5657850"/>
            <a:ext cx="571500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 b="true">
                <a:solidFill>
                  <a:srgbClr val="2F7F83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INACTIVIDAD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572750" y="6229350"/>
            <a:ext cx="5667375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Nothing at Stake: participar en varias ramas sin coste suficiente.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047750" y="9610725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POWEIGHT  /  06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581025"/>
            <a:ext cx="38100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APLICACIONES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5. Casos de Uso en Tecnologías DLT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47750" y="2857500"/>
            <a:ext cx="4762500" cy="4476750"/>
            <a:chOff x="0" y="0"/>
            <a:chExt cx="6350000" cy="5969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500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6350000">
                  <a:moveTo>
                    <a:pt x="228600" y="0"/>
                  </a:moveTo>
                  <a:lnTo>
                    <a:pt x="6121400" y="0"/>
                  </a:lnTo>
                  <a:cubicBezTo>
                    <a:pt x="6247652" y="0"/>
                    <a:pt x="6350000" y="102348"/>
                    <a:pt x="6350000" y="228600"/>
                  </a:cubicBezTo>
                  <a:lnTo>
                    <a:pt x="6350000" y="5740400"/>
                  </a:lnTo>
                  <a:cubicBezTo>
                    <a:pt x="6350000" y="5866652"/>
                    <a:pt x="6247652" y="5969000"/>
                    <a:pt x="6121400" y="5969000"/>
                  </a:cubicBezTo>
                  <a:lnTo>
                    <a:pt x="228600" y="5969000"/>
                  </a:lnTo>
                  <a:cubicBezTo>
                    <a:pt x="102348" y="5969000"/>
                    <a:pt x="0" y="5866652"/>
                    <a:pt x="0" y="5740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63500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47750" y="2857500"/>
            <a:ext cx="4762500" cy="114300"/>
            <a:chOff x="0" y="0"/>
            <a:chExt cx="6350000" cy="1524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152400"/>
            </a:xfrm>
            <a:custGeom>
              <a:avLst/>
              <a:gdLst/>
              <a:ahLst/>
              <a:cxnLst/>
              <a:rect r="r" b="b" t="t" l="l"/>
              <a:pathLst>
                <a:path h="152400" w="6350000">
                  <a:moveTo>
                    <a:pt x="63500" y="0"/>
                  </a:moveTo>
                  <a:lnTo>
                    <a:pt x="6286500" y="0"/>
                  </a:lnTo>
                  <a:cubicBezTo>
                    <a:pt x="6321570" y="0"/>
                    <a:pt x="6350000" y="28430"/>
                    <a:pt x="6350000" y="63500"/>
                  </a:cubicBezTo>
                  <a:lnTo>
                    <a:pt x="6350000" y="88900"/>
                  </a:lnTo>
                  <a:cubicBezTo>
                    <a:pt x="6350000" y="123970"/>
                    <a:pt x="6321570" y="152400"/>
                    <a:pt x="6286500" y="152400"/>
                  </a:cubicBezTo>
                  <a:lnTo>
                    <a:pt x="63500" y="152400"/>
                  </a:lnTo>
                  <a:cubicBezTo>
                    <a:pt x="28430" y="152400"/>
                    <a:pt x="0" y="123970"/>
                    <a:pt x="0" y="889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3500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381125" y="3257550"/>
            <a:ext cx="762000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20"/>
              </a:lnSpc>
            </a:pPr>
            <a:r>
              <a:rPr lang="en-US" sz="3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81125" y="4048125"/>
            <a:ext cx="40005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ALGORAND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81125" y="4810125"/>
            <a:ext cx="4000500" cy="789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PPoS con comités ponderados por balance y VRF.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477000" y="2857500"/>
            <a:ext cx="4762500" cy="4476750"/>
            <a:chOff x="0" y="0"/>
            <a:chExt cx="6350000" cy="5969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3500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6350000">
                  <a:moveTo>
                    <a:pt x="228600" y="0"/>
                  </a:moveTo>
                  <a:lnTo>
                    <a:pt x="6121400" y="0"/>
                  </a:lnTo>
                  <a:cubicBezTo>
                    <a:pt x="6247652" y="0"/>
                    <a:pt x="6350000" y="102348"/>
                    <a:pt x="6350000" y="228600"/>
                  </a:cubicBezTo>
                  <a:lnTo>
                    <a:pt x="6350000" y="5740400"/>
                  </a:lnTo>
                  <a:cubicBezTo>
                    <a:pt x="6350000" y="5866652"/>
                    <a:pt x="6247652" y="5969000"/>
                    <a:pt x="6121400" y="5969000"/>
                  </a:cubicBezTo>
                  <a:lnTo>
                    <a:pt x="228600" y="5969000"/>
                  </a:lnTo>
                  <a:cubicBezTo>
                    <a:pt x="102348" y="5969000"/>
                    <a:pt x="0" y="5866652"/>
                    <a:pt x="0" y="5740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63500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477000" y="2857500"/>
            <a:ext cx="4762500" cy="114300"/>
            <a:chOff x="0" y="0"/>
            <a:chExt cx="6350000" cy="1524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350000" cy="152400"/>
            </a:xfrm>
            <a:custGeom>
              <a:avLst/>
              <a:gdLst/>
              <a:ahLst/>
              <a:cxnLst/>
              <a:rect r="r" b="b" t="t" l="l"/>
              <a:pathLst>
                <a:path h="152400" w="6350000">
                  <a:moveTo>
                    <a:pt x="63500" y="0"/>
                  </a:moveTo>
                  <a:lnTo>
                    <a:pt x="6286500" y="0"/>
                  </a:lnTo>
                  <a:cubicBezTo>
                    <a:pt x="6321570" y="0"/>
                    <a:pt x="6350000" y="28430"/>
                    <a:pt x="6350000" y="63500"/>
                  </a:cubicBezTo>
                  <a:lnTo>
                    <a:pt x="6350000" y="88900"/>
                  </a:lnTo>
                  <a:cubicBezTo>
                    <a:pt x="6350000" y="123970"/>
                    <a:pt x="6321570" y="152400"/>
                    <a:pt x="6286500" y="152400"/>
                  </a:cubicBezTo>
                  <a:lnTo>
                    <a:pt x="63500" y="152400"/>
                  </a:lnTo>
                  <a:cubicBezTo>
                    <a:pt x="28430" y="152400"/>
                    <a:pt x="0" y="123970"/>
                    <a:pt x="0" y="889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63500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6810375" y="3257550"/>
            <a:ext cx="762000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20"/>
              </a:lnSpc>
            </a:pPr>
            <a:r>
              <a:rPr lang="en-US" sz="3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810375" y="4048125"/>
            <a:ext cx="40005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FILECOIN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810375" y="4810125"/>
            <a:ext cx="4000500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Peso según capacidad de almacenamiento persistente verificado (Storage Power).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47750" y="581025"/>
            <a:ext cx="38100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APLICACIONES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047750" y="2857500"/>
            <a:ext cx="4762500" cy="4476750"/>
            <a:chOff x="0" y="0"/>
            <a:chExt cx="6350000" cy="59690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3500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6350000">
                  <a:moveTo>
                    <a:pt x="228600" y="0"/>
                  </a:moveTo>
                  <a:lnTo>
                    <a:pt x="6121400" y="0"/>
                  </a:lnTo>
                  <a:cubicBezTo>
                    <a:pt x="6247652" y="0"/>
                    <a:pt x="6350000" y="102348"/>
                    <a:pt x="6350000" y="228600"/>
                  </a:cubicBezTo>
                  <a:lnTo>
                    <a:pt x="6350000" y="5740400"/>
                  </a:lnTo>
                  <a:cubicBezTo>
                    <a:pt x="6350000" y="5866652"/>
                    <a:pt x="6247652" y="5969000"/>
                    <a:pt x="6121400" y="5969000"/>
                  </a:cubicBezTo>
                  <a:lnTo>
                    <a:pt x="228600" y="5969000"/>
                  </a:lnTo>
                  <a:cubicBezTo>
                    <a:pt x="102348" y="5969000"/>
                    <a:pt x="0" y="5866652"/>
                    <a:pt x="0" y="5740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63500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047750" y="2857500"/>
            <a:ext cx="4762500" cy="114300"/>
            <a:chOff x="0" y="0"/>
            <a:chExt cx="6350000" cy="1524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350000" cy="152400"/>
            </a:xfrm>
            <a:custGeom>
              <a:avLst/>
              <a:gdLst/>
              <a:ahLst/>
              <a:cxnLst/>
              <a:rect r="r" b="b" t="t" l="l"/>
              <a:pathLst>
                <a:path h="152400" w="6350000">
                  <a:moveTo>
                    <a:pt x="63500" y="0"/>
                  </a:moveTo>
                  <a:lnTo>
                    <a:pt x="6286500" y="0"/>
                  </a:lnTo>
                  <a:cubicBezTo>
                    <a:pt x="6321570" y="0"/>
                    <a:pt x="6350000" y="28430"/>
                    <a:pt x="6350000" y="63500"/>
                  </a:cubicBezTo>
                  <a:lnTo>
                    <a:pt x="6350000" y="88900"/>
                  </a:lnTo>
                  <a:cubicBezTo>
                    <a:pt x="6350000" y="123970"/>
                    <a:pt x="6321570" y="152400"/>
                    <a:pt x="6286500" y="152400"/>
                  </a:cubicBezTo>
                  <a:lnTo>
                    <a:pt x="63500" y="152400"/>
                  </a:lnTo>
                  <a:cubicBezTo>
                    <a:pt x="28430" y="152400"/>
                    <a:pt x="0" y="123970"/>
                    <a:pt x="0" y="889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63500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1381125" y="3257550"/>
            <a:ext cx="762000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20"/>
              </a:lnSpc>
            </a:pPr>
            <a:r>
              <a:rPr lang="en-US" sz="3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01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381125" y="4048125"/>
            <a:ext cx="40005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ALGORAND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81125" y="4810125"/>
            <a:ext cx="4000500" cy="789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PPoS con comités ponderados por balance y VRF.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6477000" y="2857500"/>
            <a:ext cx="4762500" cy="4476750"/>
            <a:chOff x="0" y="0"/>
            <a:chExt cx="6350000" cy="59690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3500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6350000">
                  <a:moveTo>
                    <a:pt x="228600" y="0"/>
                  </a:moveTo>
                  <a:lnTo>
                    <a:pt x="6121400" y="0"/>
                  </a:lnTo>
                  <a:cubicBezTo>
                    <a:pt x="6247652" y="0"/>
                    <a:pt x="6350000" y="102348"/>
                    <a:pt x="6350000" y="228600"/>
                  </a:cubicBezTo>
                  <a:lnTo>
                    <a:pt x="6350000" y="5740400"/>
                  </a:lnTo>
                  <a:cubicBezTo>
                    <a:pt x="6350000" y="5866652"/>
                    <a:pt x="6247652" y="5969000"/>
                    <a:pt x="6121400" y="5969000"/>
                  </a:cubicBezTo>
                  <a:lnTo>
                    <a:pt x="228600" y="5969000"/>
                  </a:lnTo>
                  <a:cubicBezTo>
                    <a:pt x="102348" y="5969000"/>
                    <a:pt x="0" y="5866652"/>
                    <a:pt x="0" y="5740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63500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6477000" y="2857500"/>
            <a:ext cx="4762500" cy="114300"/>
            <a:chOff x="0" y="0"/>
            <a:chExt cx="6350000" cy="1524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6350000" cy="152400"/>
            </a:xfrm>
            <a:custGeom>
              <a:avLst/>
              <a:gdLst/>
              <a:ahLst/>
              <a:cxnLst/>
              <a:rect r="r" b="b" t="t" l="l"/>
              <a:pathLst>
                <a:path h="152400" w="6350000">
                  <a:moveTo>
                    <a:pt x="63500" y="0"/>
                  </a:moveTo>
                  <a:lnTo>
                    <a:pt x="6286500" y="0"/>
                  </a:lnTo>
                  <a:cubicBezTo>
                    <a:pt x="6321570" y="0"/>
                    <a:pt x="6350000" y="28430"/>
                    <a:pt x="6350000" y="63500"/>
                  </a:cubicBezTo>
                  <a:lnTo>
                    <a:pt x="6350000" y="88900"/>
                  </a:lnTo>
                  <a:cubicBezTo>
                    <a:pt x="6350000" y="123970"/>
                    <a:pt x="6321570" y="152400"/>
                    <a:pt x="6286500" y="152400"/>
                  </a:cubicBezTo>
                  <a:lnTo>
                    <a:pt x="63500" y="152400"/>
                  </a:lnTo>
                  <a:cubicBezTo>
                    <a:pt x="28430" y="152400"/>
                    <a:pt x="0" y="123970"/>
                    <a:pt x="0" y="889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2F7F83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63500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6810375" y="3257550"/>
            <a:ext cx="762000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20"/>
              </a:lnSpc>
            </a:pPr>
            <a:r>
              <a:rPr lang="en-US" sz="3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02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6810375" y="4048125"/>
            <a:ext cx="40005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FILECOIN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6810375" y="4810125"/>
            <a:ext cx="4000500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Peso según capacidad de almacenamiento persistente verificado (Storage Power).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1906250" y="2857500"/>
            <a:ext cx="4762500" cy="4476750"/>
            <a:chOff x="0" y="0"/>
            <a:chExt cx="6350000" cy="59690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350000" cy="5969000"/>
            </a:xfrm>
            <a:custGeom>
              <a:avLst/>
              <a:gdLst/>
              <a:ahLst/>
              <a:cxnLst/>
              <a:rect r="r" b="b" t="t" l="l"/>
              <a:pathLst>
                <a:path h="5969000" w="6350000">
                  <a:moveTo>
                    <a:pt x="228600" y="0"/>
                  </a:moveTo>
                  <a:lnTo>
                    <a:pt x="6121400" y="0"/>
                  </a:lnTo>
                  <a:cubicBezTo>
                    <a:pt x="6247652" y="0"/>
                    <a:pt x="6350000" y="102348"/>
                    <a:pt x="6350000" y="228600"/>
                  </a:cubicBezTo>
                  <a:lnTo>
                    <a:pt x="6350000" y="5740400"/>
                  </a:lnTo>
                  <a:cubicBezTo>
                    <a:pt x="6350000" y="5866652"/>
                    <a:pt x="6247652" y="5969000"/>
                    <a:pt x="6121400" y="5969000"/>
                  </a:cubicBezTo>
                  <a:lnTo>
                    <a:pt x="228600" y="5969000"/>
                  </a:lnTo>
                  <a:cubicBezTo>
                    <a:pt x="102348" y="5969000"/>
                    <a:pt x="0" y="5866652"/>
                    <a:pt x="0" y="5740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6350000" cy="600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1906250" y="2857500"/>
            <a:ext cx="4762500" cy="114300"/>
            <a:chOff x="0" y="0"/>
            <a:chExt cx="6350000" cy="1524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350000" cy="152400"/>
            </a:xfrm>
            <a:custGeom>
              <a:avLst/>
              <a:gdLst/>
              <a:ahLst/>
              <a:cxnLst/>
              <a:rect r="r" b="b" t="t" l="l"/>
              <a:pathLst>
                <a:path h="152400" w="6350000">
                  <a:moveTo>
                    <a:pt x="63500" y="0"/>
                  </a:moveTo>
                  <a:lnTo>
                    <a:pt x="6286500" y="0"/>
                  </a:lnTo>
                  <a:cubicBezTo>
                    <a:pt x="6321570" y="0"/>
                    <a:pt x="6350000" y="28430"/>
                    <a:pt x="6350000" y="63500"/>
                  </a:cubicBezTo>
                  <a:lnTo>
                    <a:pt x="6350000" y="88900"/>
                  </a:lnTo>
                  <a:cubicBezTo>
                    <a:pt x="6350000" y="123970"/>
                    <a:pt x="6321570" y="152400"/>
                    <a:pt x="6286500" y="152400"/>
                  </a:cubicBezTo>
                  <a:lnTo>
                    <a:pt x="63500" y="152400"/>
                  </a:lnTo>
                  <a:cubicBezTo>
                    <a:pt x="28430" y="152400"/>
                    <a:pt x="0" y="123970"/>
                    <a:pt x="0" y="889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63500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12239625" y="3257550"/>
            <a:ext cx="762000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20"/>
              </a:lnSpc>
            </a:pPr>
            <a:r>
              <a:rPr lang="en-US" sz="3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03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2239625" y="4048125"/>
            <a:ext cx="4000500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CHIA NETWORK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2239625" y="4810125"/>
            <a:ext cx="4000500" cy="789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Filosofía basada en espacio en disco (Proof of Space and Time).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047750" y="9610725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POWEIGHT  /  07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581025"/>
            <a:ext cx="38100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METODOLOGÍA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6. Simulación Experimental y Metodología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47750" y="2381250"/>
            <a:ext cx="9525000" cy="5619750"/>
            <a:chOff x="0" y="0"/>
            <a:chExt cx="12700000" cy="7493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700000" cy="7493000"/>
            </a:xfrm>
            <a:custGeom>
              <a:avLst/>
              <a:gdLst/>
              <a:ahLst/>
              <a:cxnLst/>
              <a:rect r="r" b="b" t="t" l="l"/>
              <a:pathLst>
                <a:path h="7493000" w="12700000">
                  <a:moveTo>
                    <a:pt x="228600" y="0"/>
                  </a:moveTo>
                  <a:lnTo>
                    <a:pt x="12471400" y="0"/>
                  </a:lnTo>
                  <a:cubicBezTo>
                    <a:pt x="12597652" y="0"/>
                    <a:pt x="12700000" y="102348"/>
                    <a:pt x="12700000" y="228600"/>
                  </a:cubicBezTo>
                  <a:lnTo>
                    <a:pt x="12700000" y="7264400"/>
                  </a:lnTo>
                  <a:cubicBezTo>
                    <a:pt x="12700000" y="7390652"/>
                    <a:pt x="12597652" y="7493000"/>
                    <a:pt x="12471400" y="7493000"/>
                  </a:cubicBezTo>
                  <a:lnTo>
                    <a:pt x="228600" y="7493000"/>
                  </a:lnTo>
                  <a:cubicBezTo>
                    <a:pt x="102348" y="7493000"/>
                    <a:pt x="0" y="7390652"/>
                    <a:pt x="0" y="726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2700000" cy="753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476375" y="2695575"/>
            <a:ext cx="666750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Diseño experimental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76375" y="3381375"/>
            <a:ext cx="7905750" cy="217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• Función de peso multidimensional</a:t>
            </a:r>
          </a:p>
          <a:p>
            <a:pPr algn="l">
              <a:lnSpc>
                <a:spcPts val="3499"/>
              </a:lnSpc>
            </a:pPr>
          </a:p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• Configuración de 4 nodos heterogéneos: Nodo A a Nodo D</a:t>
            </a:r>
          </a:p>
          <a:p>
            <a:pPr algn="l">
              <a:lnSpc>
                <a:spcPts val="3499"/>
              </a:lnSpc>
            </a:pPr>
          </a:p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• Simulación de 1.000 rondas de lotería ponderada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430000" y="2381250"/>
            <a:ext cx="5810250" cy="2095500"/>
            <a:chOff x="0" y="0"/>
            <a:chExt cx="7747000" cy="2794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747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7747000">
                  <a:moveTo>
                    <a:pt x="228600" y="0"/>
                  </a:moveTo>
                  <a:lnTo>
                    <a:pt x="7518400" y="0"/>
                  </a:lnTo>
                  <a:cubicBezTo>
                    <a:pt x="7644652" y="0"/>
                    <a:pt x="7747000" y="102348"/>
                    <a:pt x="7747000" y="228600"/>
                  </a:cubicBezTo>
                  <a:lnTo>
                    <a:pt x="7747000" y="2565400"/>
                  </a:lnTo>
                  <a:cubicBezTo>
                    <a:pt x="7747000" y="2691652"/>
                    <a:pt x="7644652" y="2794000"/>
                    <a:pt x="7518400" y="2794000"/>
                  </a:cubicBezTo>
                  <a:lnTo>
                    <a:pt x="228600" y="2794000"/>
                  </a:lnTo>
                  <a:cubicBezTo>
                    <a:pt x="102348" y="2794000"/>
                    <a:pt x="0" y="2691652"/>
                    <a:pt x="0" y="2565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7747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1811000" y="2705100"/>
            <a:ext cx="5048250" cy="1471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W = 50% tokens + 20% antigüedad + 30% almacenamiento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430000" y="4953000"/>
            <a:ext cx="5810250" cy="3048000"/>
            <a:chOff x="0" y="0"/>
            <a:chExt cx="7747000" cy="4064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747000" cy="4064000"/>
            </a:xfrm>
            <a:custGeom>
              <a:avLst/>
              <a:gdLst/>
              <a:ahLst/>
              <a:cxnLst/>
              <a:rect r="r" b="b" t="t" l="l"/>
              <a:pathLst>
                <a:path h="4064000" w="7747000">
                  <a:moveTo>
                    <a:pt x="228600" y="0"/>
                  </a:moveTo>
                  <a:lnTo>
                    <a:pt x="7518400" y="0"/>
                  </a:lnTo>
                  <a:cubicBezTo>
                    <a:pt x="7644652" y="0"/>
                    <a:pt x="7747000" y="102348"/>
                    <a:pt x="7747000" y="228600"/>
                  </a:cubicBezTo>
                  <a:lnTo>
                    <a:pt x="7747000" y="3835400"/>
                  </a:lnTo>
                  <a:cubicBezTo>
                    <a:pt x="7747000" y="3961652"/>
                    <a:pt x="7644652" y="4064000"/>
                    <a:pt x="7518400" y="4064000"/>
                  </a:cubicBezTo>
                  <a:lnTo>
                    <a:pt x="228600" y="4064000"/>
                  </a:lnTo>
                  <a:cubicBezTo>
                    <a:pt x="102348" y="4064000"/>
                    <a:pt x="0" y="3961652"/>
                    <a:pt x="0" y="3835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102738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7747000" cy="410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2001500" y="5667375"/>
            <a:ext cx="4667250" cy="181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40"/>
              </a:lnSpc>
              <a:spcBef>
                <a:spcPct val="0"/>
              </a:spcBef>
            </a:pPr>
            <a:r>
              <a:rPr lang="en-US" sz="2600" strike="noStrike" u="non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Ponderación: El peso combina liquidez (50%), compromiso temporal (20%) y recurso tangible en red (30%)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476375" y="8096250"/>
            <a:ext cx="1428750" cy="619125"/>
            <a:chOff x="0" y="0"/>
            <a:chExt cx="1905000" cy="825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05000" cy="825500"/>
            </a:xfrm>
            <a:custGeom>
              <a:avLst/>
              <a:gdLst/>
              <a:ahLst/>
              <a:cxnLst/>
              <a:rect r="r" b="b" t="t" l="l"/>
              <a:pathLst>
                <a:path h="825500" w="1905000">
                  <a:moveTo>
                    <a:pt x="152400" y="0"/>
                  </a:moveTo>
                  <a:lnTo>
                    <a:pt x="1752600" y="0"/>
                  </a:lnTo>
                  <a:cubicBezTo>
                    <a:pt x="1836768" y="0"/>
                    <a:pt x="1905000" y="68232"/>
                    <a:pt x="1905000" y="152400"/>
                  </a:cubicBezTo>
                  <a:lnTo>
                    <a:pt x="1905000" y="673100"/>
                  </a:lnTo>
                  <a:cubicBezTo>
                    <a:pt x="1905000" y="757268"/>
                    <a:pt x="1836768" y="825500"/>
                    <a:pt x="1752600" y="825500"/>
                  </a:cubicBezTo>
                  <a:lnTo>
                    <a:pt x="152400" y="825500"/>
                  </a:lnTo>
                  <a:cubicBezTo>
                    <a:pt x="68232" y="825500"/>
                    <a:pt x="0" y="757268"/>
                    <a:pt x="0" y="673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905000" cy="86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76375" y="8207375"/>
            <a:ext cx="1428750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Nodo A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3476625" y="8096250"/>
            <a:ext cx="1428750" cy="619125"/>
            <a:chOff x="0" y="0"/>
            <a:chExt cx="1905000" cy="8255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905000" cy="825500"/>
            </a:xfrm>
            <a:custGeom>
              <a:avLst/>
              <a:gdLst/>
              <a:ahLst/>
              <a:cxnLst/>
              <a:rect r="r" b="b" t="t" l="l"/>
              <a:pathLst>
                <a:path h="825500" w="1905000">
                  <a:moveTo>
                    <a:pt x="152400" y="0"/>
                  </a:moveTo>
                  <a:lnTo>
                    <a:pt x="1752600" y="0"/>
                  </a:lnTo>
                  <a:cubicBezTo>
                    <a:pt x="1836768" y="0"/>
                    <a:pt x="1905000" y="68232"/>
                    <a:pt x="1905000" y="152400"/>
                  </a:cubicBezTo>
                  <a:lnTo>
                    <a:pt x="1905000" y="673100"/>
                  </a:lnTo>
                  <a:cubicBezTo>
                    <a:pt x="1905000" y="757268"/>
                    <a:pt x="1836768" y="825500"/>
                    <a:pt x="1752600" y="825500"/>
                  </a:cubicBezTo>
                  <a:lnTo>
                    <a:pt x="152400" y="825500"/>
                  </a:lnTo>
                  <a:cubicBezTo>
                    <a:pt x="68232" y="825500"/>
                    <a:pt x="0" y="757268"/>
                    <a:pt x="0" y="673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905000" cy="86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3476625" y="8207375"/>
            <a:ext cx="1428750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Nodo B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5476875" y="8096250"/>
            <a:ext cx="1428750" cy="619125"/>
            <a:chOff x="0" y="0"/>
            <a:chExt cx="1905000" cy="8255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905000" cy="825500"/>
            </a:xfrm>
            <a:custGeom>
              <a:avLst/>
              <a:gdLst/>
              <a:ahLst/>
              <a:cxnLst/>
              <a:rect r="r" b="b" t="t" l="l"/>
              <a:pathLst>
                <a:path h="825500" w="1905000">
                  <a:moveTo>
                    <a:pt x="152400" y="0"/>
                  </a:moveTo>
                  <a:lnTo>
                    <a:pt x="1752600" y="0"/>
                  </a:lnTo>
                  <a:cubicBezTo>
                    <a:pt x="1836768" y="0"/>
                    <a:pt x="1905000" y="68232"/>
                    <a:pt x="1905000" y="152400"/>
                  </a:cubicBezTo>
                  <a:lnTo>
                    <a:pt x="1905000" y="673100"/>
                  </a:lnTo>
                  <a:cubicBezTo>
                    <a:pt x="1905000" y="757268"/>
                    <a:pt x="1836768" y="825500"/>
                    <a:pt x="1752600" y="825500"/>
                  </a:cubicBezTo>
                  <a:lnTo>
                    <a:pt x="152400" y="825500"/>
                  </a:lnTo>
                  <a:cubicBezTo>
                    <a:pt x="68232" y="825500"/>
                    <a:pt x="0" y="757268"/>
                    <a:pt x="0" y="673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905000" cy="86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5476875" y="8207375"/>
            <a:ext cx="1428750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Nodo C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7477125" y="8096250"/>
            <a:ext cx="1428750" cy="619125"/>
            <a:chOff x="0" y="0"/>
            <a:chExt cx="1905000" cy="8255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905000" cy="825500"/>
            </a:xfrm>
            <a:custGeom>
              <a:avLst/>
              <a:gdLst/>
              <a:ahLst/>
              <a:cxnLst/>
              <a:rect r="r" b="b" t="t" l="l"/>
              <a:pathLst>
                <a:path h="825500" w="1905000">
                  <a:moveTo>
                    <a:pt x="152400" y="0"/>
                  </a:moveTo>
                  <a:lnTo>
                    <a:pt x="1752600" y="0"/>
                  </a:lnTo>
                  <a:cubicBezTo>
                    <a:pt x="1836768" y="0"/>
                    <a:pt x="1905000" y="68232"/>
                    <a:pt x="1905000" y="152400"/>
                  </a:cubicBezTo>
                  <a:lnTo>
                    <a:pt x="1905000" y="673100"/>
                  </a:lnTo>
                  <a:cubicBezTo>
                    <a:pt x="1905000" y="757268"/>
                    <a:pt x="1836768" y="825500"/>
                    <a:pt x="1752600" y="825500"/>
                  </a:cubicBezTo>
                  <a:lnTo>
                    <a:pt x="152400" y="825500"/>
                  </a:lnTo>
                  <a:cubicBezTo>
                    <a:pt x="68232" y="825500"/>
                    <a:pt x="0" y="757268"/>
                    <a:pt x="0" y="673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905000" cy="86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7477125" y="8207375"/>
            <a:ext cx="1428750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Nodo D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47750" y="9610725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POWEIGHT  /  08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76375" y="8867775"/>
            <a:ext cx="1428750" cy="496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150 tokens · 15 días · 50 GB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3476625" y="8867775"/>
            <a:ext cx="1428750" cy="496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450 tokens · 45 días · 250 GB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476875" y="8867775"/>
            <a:ext cx="1428750" cy="744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900 tokens · 120 días · 600 GB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477125" y="8867775"/>
            <a:ext cx="1428750" cy="744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55"/>
              </a:lnSpc>
            </a:pPr>
            <a:r>
              <a:rPr lang="en-US" sz="17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1800 tokens · 240 días · 1500 GB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581025"/>
            <a:ext cx="38100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RESULTADOS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7. Resultados de la Simulación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047750" y="9610725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POWEIGHT  /  09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47750" y="2381250"/>
            <a:ext cx="1809750" cy="742950"/>
            <a:chOff x="0" y="0"/>
            <a:chExt cx="2413000" cy="990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13000" cy="990600"/>
            </a:xfrm>
            <a:custGeom>
              <a:avLst/>
              <a:gdLst/>
              <a:ahLst/>
              <a:cxnLst/>
              <a:rect r="r" b="b" t="t" l="l"/>
              <a:pathLst>
                <a:path h="990600" w="2413000">
                  <a:moveTo>
                    <a:pt x="127000" y="0"/>
                  </a:moveTo>
                  <a:lnTo>
                    <a:pt x="2286000" y="0"/>
                  </a:lnTo>
                  <a:cubicBezTo>
                    <a:pt x="2356140" y="0"/>
                    <a:pt x="2413000" y="56860"/>
                    <a:pt x="2413000" y="127000"/>
                  </a:cubicBezTo>
                  <a:lnTo>
                    <a:pt x="2413000" y="863600"/>
                  </a:lnTo>
                  <a:cubicBezTo>
                    <a:pt x="2413000" y="933740"/>
                    <a:pt x="2356140" y="990600"/>
                    <a:pt x="2286000" y="990600"/>
                  </a:cubicBezTo>
                  <a:lnTo>
                    <a:pt x="127000" y="990600"/>
                  </a:lnTo>
                  <a:cubicBezTo>
                    <a:pt x="56860" y="990600"/>
                    <a:pt x="0" y="933740"/>
                    <a:pt x="0" y="863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102738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2413000" cy="1028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238250" y="2571750"/>
            <a:ext cx="147637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FFFFFF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2857500" y="2381250"/>
            <a:ext cx="2000250" cy="742950"/>
            <a:chOff x="0" y="0"/>
            <a:chExt cx="2667000" cy="9906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990600"/>
            </a:xfrm>
            <a:custGeom>
              <a:avLst/>
              <a:gdLst/>
              <a:ahLst/>
              <a:cxnLst/>
              <a:rect r="r" b="b" t="t" l="l"/>
              <a:pathLst>
                <a:path h="990600" w="2667000">
                  <a:moveTo>
                    <a:pt x="127000" y="0"/>
                  </a:moveTo>
                  <a:lnTo>
                    <a:pt x="2540000" y="0"/>
                  </a:lnTo>
                  <a:cubicBezTo>
                    <a:pt x="2610140" y="0"/>
                    <a:pt x="2667000" y="56860"/>
                    <a:pt x="2667000" y="127000"/>
                  </a:cubicBezTo>
                  <a:lnTo>
                    <a:pt x="2667000" y="863600"/>
                  </a:lnTo>
                  <a:cubicBezTo>
                    <a:pt x="2667000" y="933740"/>
                    <a:pt x="2610140" y="990600"/>
                    <a:pt x="2540000" y="990600"/>
                  </a:cubicBezTo>
                  <a:lnTo>
                    <a:pt x="127000" y="990600"/>
                  </a:lnTo>
                  <a:cubicBezTo>
                    <a:pt x="56860" y="990600"/>
                    <a:pt x="0" y="933740"/>
                    <a:pt x="0" y="863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102738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1028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3048000" y="2571750"/>
            <a:ext cx="166687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FFFFFF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Peso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4857750" y="2381250"/>
            <a:ext cx="2571750" cy="742950"/>
            <a:chOff x="0" y="0"/>
            <a:chExt cx="3429000" cy="990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429000" cy="990600"/>
            </a:xfrm>
            <a:custGeom>
              <a:avLst/>
              <a:gdLst/>
              <a:ahLst/>
              <a:cxnLst/>
              <a:rect r="r" b="b" t="t" l="l"/>
              <a:pathLst>
                <a:path h="990600" w="3429000">
                  <a:moveTo>
                    <a:pt x="127000" y="0"/>
                  </a:moveTo>
                  <a:lnTo>
                    <a:pt x="3302000" y="0"/>
                  </a:lnTo>
                  <a:cubicBezTo>
                    <a:pt x="3372140" y="0"/>
                    <a:pt x="3429000" y="56860"/>
                    <a:pt x="3429000" y="127000"/>
                  </a:cubicBezTo>
                  <a:lnTo>
                    <a:pt x="3429000" y="863600"/>
                  </a:lnTo>
                  <a:cubicBezTo>
                    <a:pt x="3429000" y="933740"/>
                    <a:pt x="3372140" y="990600"/>
                    <a:pt x="3302000" y="990600"/>
                  </a:cubicBezTo>
                  <a:lnTo>
                    <a:pt x="127000" y="990600"/>
                  </a:lnTo>
                  <a:cubicBezTo>
                    <a:pt x="56860" y="990600"/>
                    <a:pt x="0" y="933740"/>
                    <a:pt x="0" y="863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102738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3429000" cy="1028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5048250" y="2571750"/>
            <a:ext cx="223837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FFFFFF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Prob. Teórica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7429500" y="2381250"/>
            <a:ext cx="2762250" cy="742950"/>
            <a:chOff x="0" y="0"/>
            <a:chExt cx="3683000" cy="990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683000" cy="990600"/>
            </a:xfrm>
            <a:custGeom>
              <a:avLst/>
              <a:gdLst/>
              <a:ahLst/>
              <a:cxnLst/>
              <a:rect r="r" b="b" t="t" l="l"/>
              <a:pathLst>
                <a:path h="990600" w="3683000">
                  <a:moveTo>
                    <a:pt x="127000" y="0"/>
                  </a:moveTo>
                  <a:lnTo>
                    <a:pt x="3556000" y="0"/>
                  </a:lnTo>
                  <a:cubicBezTo>
                    <a:pt x="3626140" y="0"/>
                    <a:pt x="3683000" y="56860"/>
                    <a:pt x="3683000" y="127000"/>
                  </a:cubicBezTo>
                  <a:lnTo>
                    <a:pt x="3683000" y="863600"/>
                  </a:lnTo>
                  <a:cubicBezTo>
                    <a:pt x="3683000" y="933740"/>
                    <a:pt x="3626140" y="990600"/>
                    <a:pt x="3556000" y="990600"/>
                  </a:cubicBezTo>
                  <a:lnTo>
                    <a:pt x="127000" y="990600"/>
                  </a:lnTo>
                  <a:cubicBezTo>
                    <a:pt x="56860" y="990600"/>
                    <a:pt x="0" y="933740"/>
                    <a:pt x="0" y="863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102738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3683000" cy="1028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620000" y="2571750"/>
            <a:ext cx="242887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FFFFFF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Bloques Ganados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191750" y="2381250"/>
            <a:ext cx="2667000" cy="742950"/>
            <a:chOff x="0" y="0"/>
            <a:chExt cx="3556000" cy="990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556000" cy="990600"/>
            </a:xfrm>
            <a:custGeom>
              <a:avLst/>
              <a:gdLst/>
              <a:ahLst/>
              <a:cxnLst/>
              <a:rect r="r" b="b" t="t" l="l"/>
              <a:pathLst>
                <a:path h="990600" w="3556000">
                  <a:moveTo>
                    <a:pt x="127000" y="0"/>
                  </a:moveTo>
                  <a:lnTo>
                    <a:pt x="3429000" y="0"/>
                  </a:lnTo>
                  <a:cubicBezTo>
                    <a:pt x="3499140" y="0"/>
                    <a:pt x="3556000" y="56860"/>
                    <a:pt x="3556000" y="127000"/>
                  </a:cubicBezTo>
                  <a:lnTo>
                    <a:pt x="3556000" y="863600"/>
                  </a:lnTo>
                  <a:cubicBezTo>
                    <a:pt x="3556000" y="933740"/>
                    <a:pt x="3499140" y="990600"/>
                    <a:pt x="3429000" y="990600"/>
                  </a:cubicBezTo>
                  <a:lnTo>
                    <a:pt x="127000" y="990600"/>
                  </a:lnTo>
                  <a:cubicBezTo>
                    <a:pt x="56860" y="990600"/>
                    <a:pt x="0" y="933740"/>
                    <a:pt x="0" y="863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102738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3556000" cy="1028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0382250" y="2571750"/>
            <a:ext cx="233362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FFFFFF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Frec. Obtenida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47750" y="3124200"/>
            <a:ext cx="1809750" cy="1000125"/>
            <a:chOff x="0" y="0"/>
            <a:chExt cx="2413000" cy="13335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41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41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238250" y="3400425"/>
            <a:ext cx="1476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Nodo A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2857500" y="3124200"/>
            <a:ext cx="2000250" cy="1000125"/>
            <a:chOff x="0" y="0"/>
            <a:chExt cx="2667000" cy="13335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667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667000">
                  <a:moveTo>
                    <a:pt x="0" y="0"/>
                  </a:moveTo>
                  <a:lnTo>
                    <a:pt x="2667000" y="0"/>
                  </a:lnTo>
                  <a:lnTo>
                    <a:pt x="2667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2667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3048000" y="3400425"/>
            <a:ext cx="1666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93,0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4857750" y="3124200"/>
            <a:ext cx="2571750" cy="1000125"/>
            <a:chOff x="0" y="0"/>
            <a:chExt cx="3429000" cy="13335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429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429000">
                  <a:moveTo>
                    <a:pt x="0" y="0"/>
                  </a:moveTo>
                  <a:lnTo>
                    <a:pt x="3429000" y="0"/>
                  </a:lnTo>
                  <a:lnTo>
                    <a:pt x="3429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3429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5048250" y="3400425"/>
            <a:ext cx="2238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3,79%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7429500" y="3124200"/>
            <a:ext cx="2762250" cy="1000125"/>
            <a:chOff x="0" y="0"/>
            <a:chExt cx="3683000" cy="13335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68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683000">
                  <a:moveTo>
                    <a:pt x="0" y="0"/>
                  </a:moveTo>
                  <a:lnTo>
                    <a:pt x="3683000" y="0"/>
                  </a:lnTo>
                  <a:lnTo>
                    <a:pt x="368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368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7620000" y="3400425"/>
            <a:ext cx="2428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36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10191750" y="3124200"/>
            <a:ext cx="2667000" cy="1000125"/>
            <a:chOff x="0" y="0"/>
            <a:chExt cx="3556000" cy="13335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556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3556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10382250" y="3400425"/>
            <a:ext cx="233362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3,60%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047750" y="4124325"/>
            <a:ext cx="1809750" cy="1000125"/>
            <a:chOff x="0" y="0"/>
            <a:chExt cx="2413000" cy="13335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41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241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1238250" y="4400550"/>
            <a:ext cx="1476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Nodo B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2857500" y="4124325"/>
            <a:ext cx="2000250" cy="1000125"/>
            <a:chOff x="0" y="0"/>
            <a:chExt cx="2667000" cy="13335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667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667000">
                  <a:moveTo>
                    <a:pt x="0" y="0"/>
                  </a:moveTo>
                  <a:lnTo>
                    <a:pt x="2667000" y="0"/>
                  </a:lnTo>
                  <a:lnTo>
                    <a:pt x="2667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2667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5" id="55"/>
          <p:cNvSpPr txBox="true"/>
          <p:nvPr/>
        </p:nvSpPr>
        <p:spPr>
          <a:xfrm rot="0">
            <a:off x="3048000" y="4400550"/>
            <a:ext cx="1666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309,0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4857750" y="4124325"/>
            <a:ext cx="2571750" cy="1000125"/>
            <a:chOff x="0" y="0"/>
            <a:chExt cx="3429000" cy="13335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429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429000">
                  <a:moveTo>
                    <a:pt x="0" y="0"/>
                  </a:moveTo>
                  <a:lnTo>
                    <a:pt x="3429000" y="0"/>
                  </a:lnTo>
                  <a:lnTo>
                    <a:pt x="3429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3429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5048250" y="4400550"/>
            <a:ext cx="2238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12,59%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7429500" y="4124325"/>
            <a:ext cx="2762250" cy="1000125"/>
            <a:chOff x="0" y="0"/>
            <a:chExt cx="3683000" cy="133350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68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683000">
                  <a:moveTo>
                    <a:pt x="0" y="0"/>
                  </a:moveTo>
                  <a:lnTo>
                    <a:pt x="3683000" y="0"/>
                  </a:lnTo>
                  <a:lnTo>
                    <a:pt x="368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368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3" id="63"/>
          <p:cNvSpPr txBox="true"/>
          <p:nvPr/>
        </p:nvSpPr>
        <p:spPr>
          <a:xfrm rot="0">
            <a:off x="7620000" y="4400550"/>
            <a:ext cx="2428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134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10191750" y="4124325"/>
            <a:ext cx="2667000" cy="1000125"/>
            <a:chOff x="0" y="0"/>
            <a:chExt cx="3556000" cy="13335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556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3556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7" id="67"/>
          <p:cNvSpPr txBox="true"/>
          <p:nvPr/>
        </p:nvSpPr>
        <p:spPr>
          <a:xfrm rot="0">
            <a:off x="10382250" y="4400550"/>
            <a:ext cx="233362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13,40%</a:t>
            </a:r>
          </a:p>
        </p:txBody>
      </p:sp>
      <p:grpSp>
        <p:nvGrpSpPr>
          <p:cNvPr name="Group 68" id="68"/>
          <p:cNvGrpSpPr/>
          <p:nvPr/>
        </p:nvGrpSpPr>
        <p:grpSpPr>
          <a:xfrm rot="0">
            <a:off x="1047750" y="5124450"/>
            <a:ext cx="1809750" cy="1000125"/>
            <a:chOff x="0" y="0"/>
            <a:chExt cx="2413000" cy="13335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41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241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1" id="71"/>
          <p:cNvSpPr txBox="true"/>
          <p:nvPr/>
        </p:nvSpPr>
        <p:spPr>
          <a:xfrm rot="0">
            <a:off x="1238250" y="5400675"/>
            <a:ext cx="1476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Nodo C</a:t>
            </a:r>
          </a:p>
        </p:txBody>
      </p:sp>
      <p:grpSp>
        <p:nvGrpSpPr>
          <p:cNvPr name="Group 72" id="72"/>
          <p:cNvGrpSpPr/>
          <p:nvPr/>
        </p:nvGrpSpPr>
        <p:grpSpPr>
          <a:xfrm rot="0">
            <a:off x="2857500" y="5124450"/>
            <a:ext cx="2000250" cy="1000125"/>
            <a:chOff x="0" y="0"/>
            <a:chExt cx="2667000" cy="133350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2667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667000">
                  <a:moveTo>
                    <a:pt x="0" y="0"/>
                  </a:moveTo>
                  <a:lnTo>
                    <a:pt x="2667000" y="0"/>
                  </a:lnTo>
                  <a:lnTo>
                    <a:pt x="2667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74" id="74"/>
            <p:cNvSpPr txBox="true"/>
            <p:nvPr/>
          </p:nvSpPr>
          <p:spPr>
            <a:xfrm>
              <a:off x="0" y="-38100"/>
              <a:ext cx="2667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5" id="75"/>
          <p:cNvSpPr txBox="true"/>
          <p:nvPr/>
        </p:nvSpPr>
        <p:spPr>
          <a:xfrm rot="0">
            <a:off x="3048000" y="5400675"/>
            <a:ext cx="1666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654,0</a:t>
            </a:r>
          </a:p>
        </p:txBody>
      </p:sp>
      <p:grpSp>
        <p:nvGrpSpPr>
          <p:cNvPr name="Group 76" id="76"/>
          <p:cNvGrpSpPr/>
          <p:nvPr/>
        </p:nvGrpSpPr>
        <p:grpSpPr>
          <a:xfrm rot="0">
            <a:off x="4857750" y="5124450"/>
            <a:ext cx="2571750" cy="1000125"/>
            <a:chOff x="0" y="0"/>
            <a:chExt cx="3429000" cy="133350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429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429000">
                  <a:moveTo>
                    <a:pt x="0" y="0"/>
                  </a:moveTo>
                  <a:lnTo>
                    <a:pt x="3429000" y="0"/>
                  </a:lnTo>
                  <a:lnTo>
                    <a:pt x="3429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78" id="78"/>
            <p:cNvSpPr txBox="true"/>
            <p:nvPr/>
          </p:nvSpPr>
          <p:spPr>
            <a:xfrm>
              <a:off x="0" y="-38100"/>
              <a:ext cx="3429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9" id="79"/>
          <p:cNvSpPr txBox="true"/>
          <p:nvPr/>
        </p:nvSpPr>
        <p:spPr>
          <a:xfrm rot="0">
            <a:off x="5048250" y="5400675"/>
            <a:ext cx="2238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26,65%</a:t>
            </a:r>
          </a:p>
        </p:txBody>
      </p:sp>
      <p:grpSp>
        <p:nvGrpSpPr>
          <p:cNvPr name="Group 80" id="80"/>
          <p:cNvGrpSpPr/>
          <p:nvPr/>
        </p:nvGrpSpPr>
        <p:grpSpPr>
          <a:xfrm rot="0">
            <a:off x="7429500" y="5124450"/>
            <a:ext cx="2762250" cy="1000125"/>
            <a:chOff x="0" y="0"/>
            <a:chExt cx="3683000" cy="133350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68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683000">
                  <a:moveTo>
                    <a:pt x="0" y="0"/>
                  </a:moveTo>
                  <a:lnTo>
                    <a:pt x="3683000" y="0"/>
                  </a:lnTo>
                  <a:lnTo>
                    <a:pt x="368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368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83" id="83"/>
          <p:cNvSpPr txBox="true"/>
          <p:nvPr/>
        </p:nvSpPr>
        <p:spPr>
          <a:xfrm rot="0">
            <a:off x="7620000" y="5400675"/>
            <a:ext cx="2428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268</a:t>
            </a:r>
          </a:p>
        </p:txBody>
      </p:sp>
      <p:grpSp>
        <p:nvGrpSpPr>
          <p:cNvPr name="Group 84" id="84"/>
          <p:cNvGrpSpPr/>
          <p:nvPr/>
        </p:nvGrpSpPr>
        <p:grpSpPr>
          <a:xfrm rot="0">
            <a:off x="10191750" y="5124450"/>
            <a:ext cx="2667000" cy="1000125"/>
            <a:chOff x="0" y="0"/>
            <a:chExt cx="3556000" cy="133350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3556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86" id="86"/>
            <p:cNvSpPr txBox="true"/>
            <p:nvPr/>
          </p:nvSpPr>
          <p:spPr>
            <a:xfrm>
              <a:off x="0" y="-38100"/>
              <a:ext cx="3556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87" id="87"/>
          <p:cNvSpPr txBox="true"/>
          <p:nvPr/>
        </p:nvSpPr>
        <p:spPr>
          <a:xfrm rot="0">
            <a:off x="10382250" y="5400675"/>
            <a:ext cx="233362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26,80%</a:t>
            </a:r>
          </a:p>
        </p:txBody>
      </p:sp>
      <p:grpSp>
        <p:nvGrpSpPr>
          <p:cNvPr name="Group 88" id="88"/>
          <p:cNvGrpSpPr/>
          <p:nvPr/>
        </p:nvGrpSpPr>
        <p:grpSpPr>
          <a:xfrm rot="0">
            <a:off x="1047750" y="6124575"/>
            <a:ext cx="1809750" cy="1000125"/>
            <a:chOff x="0" y="0"/>
            <a:chExt cx="2413000" cy="133350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41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90" id="90"/>
            <p:cNvSpPr txBox="true"/>
            <p:nvPr/>
          </p:nvSpPr>
          <p:spPr>
            <a:xfrm>
              <a:off x="0" y="-38100"/>
              <a:ext cx="241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1" id="91"/>
          <p:cNvSpPr txBox="true"/>
          <p:nvPr/>
        </p:nvSpPr>
        <p:spPr>
          <a:xfrm rot="0">
            <a:off x="1238250" y="6400800"/>
            <a:ext cx="1476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Nodo D</a:t>
            </a:r>
          </a:p>
        </p:txBody>
      </p:sp>
      <p:grpSp>
        <p:nvGrpSpPr>
          <p:cNvPr name="Group 92" id="92"/>
          <p:cNvGrpSpPr/>
          <p:nvPr/>
        </p:nvGrpSpPr>
        <p:grpSpPr>
          <a:xfrm rot="0">
            <a:off x="2857500" y="6124575"/>
            <a:ext cx="2000250" cy="1000125"/>
            <a:chOff x="0" y="0"/>
            <a:chExt cx="2667000" cy="133350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2667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2667000">
                  <a:moveTo>
                    <a:pt x="0" y="0"/>
                  </a:moveTo>
                  <a:lnTo>
                    <a:pt x="2667000" y="0"/>
                  </a:lnTo>
                  <a:lnTo>
                    <a:pt x="2667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94" id="94"/>
            <p:cNvSpPr txBox="true"/>
            <p:nvPr/>
          </p:nvSpPr>
          <p:spPr>
            <a:xfrm>
              <a:off x="0" y="-38100"/>
              <a:ext cx="2667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5" id="95"/>
          <p:cNvSpPr txBox="true"/>
          <p:nvPr/>
        </p:nvSpPr>
        <p:spPr>
          <a:xfrm rot="0">
            <a:off x="3048000" y="6400800"/>
            <a:ext cx="1666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1398,0</a:t>
            </a:r>
          </a:p>
        </p:txBody>
      </p:sp>
      <p:grpSp>
        <p:nvGrpSpPr>
          <p:cNvPr name="Group 96" id="96"/>
          <p:cNvGrpSpPr/>
          <p:nvPr/>
        </p:nvGrpSpPr>
        <p:grpSpPr>
          <a:xfrm rot="0">
            <a:off x="4857750" y="6124575"/>
            <a:ext cx="2571750" cy="1000125"/>
            <a:chOff x="0" y="0"/>
            <a:chExt cx="3429000" cy="133350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3429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429000">
                  <a:moveTo>
                    <a:pt x="0" y="0"/>
                  </a:moveTo>
                  <a:lnTo>
                    <a:pt x="3429000" y="0"/>
                  </a:lnTo>
                  <a:lnTo>
                    <a:pt x="3429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3429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5048250" y="6400800"/>
            <a:ext cx="22383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56,97%</a:t>
            </a:r>
          </a:p>
        </p:txBody>
      </p:sp>
      <p:grpSp>
        <p:nvGrpSpPr>
          <p:cNvPr name="Group 100" id="100"/>
          <p:cNvGrpSpPr/>
          <p:nvPr/>
        </p:nvGrpSpPr>
        <p:grpSpPr>
          <a:xfrm rot="0">
            <a:off x="7429500" y="6124575"/>
            <a:ext cx="2762250" cy="1000125"/>
            <a:chOff x="0" y="0"/>
            <a:chExt cx="3683000" cy="133350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3683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683000">
                  <a:moveTo>
                    <a:pt x="0" y="0"/>
                  </a:moveTo>
                  <a:lnTo>
                    <a:pt x="3683000" y="0"/>
                  </a:lnTo>
                  <a:lnTo>
                    <a:pt x="3683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02" id="102"/>
            <p:cNvSpPr txBox="true"/>
            <p:nvPr/>
          </p:nvSpPr>
          <p:spPr>
            <a:xfrm>
              <a:off x="0" y="-38100"/>
              <a:ext cx="3683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7620000" y="6400800"/>
            <a:ext cx="242887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562</a:t>
            </a:r>
          </a:p>
        </p:txBody>
      </p:sp>
      <p:grpSp>
        <p:nvGrpSpPr>
          <p:cNvPr name="Group 104" id="104"/>
          <p:cNvGrpSpPr/>
          <p:nvPr/>
        </p:nvGrpSpPr>
        <p:grpSpPr>
          <a:xfrm rot="0">
            <a:off x="10191750" y="6124575"/>
            <a:ext cx="2667000" cy="1000125"/>
            <a:chOff x="0" y="0"/>
            <a:chExt cx="3556000" cy="1333500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3556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06" id="106"/>
            <p:cNvSpPr txBox="true"/>
            <p:nvPr/>
          </p:nvSpPr>
          <p:spPr>
            <a:xfrm>
              <a:off x="0" y="-38100"/>
              <a:ext cx="3556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7" id="107"/>
          <p:cNvSpPr txBox="true"/>
          <p:nvPr/>
        </p:nvSpPr>
        <p:spPr>
          <a:xfrm rot="0">
            <a:off x="10382250" y="6400800"/>
            <a:ext cx="233362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56,20%</a:t>
            </a:r>
          </a:p>
        </p:txBody>
      </p:sp>
      <p:grpSp>
        <p:nvGrpSpPr>
          <p:cNvPr name="Group 108" id="108"/>
          <p:cNvGrpSpPr/>
          <p:nvPr/>
        </p:nvGrpSpPr>
        <p:grpSpPr>
          <a:xfrm rot="0">
            <a:off x="13144500" y="2381250"/>
            <a:ext cx="4095750" cy="4743450"/>
            <a:chOff x="0" y="0"/>
            <a:chExt cx="5461000" cy="632460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5461000" cy="6324600"/>
            </a:xfrm>
            <a:custGeom>
              <a:avLst/>
              <a:gdLst/>
              <a:ahLst/>
              <a:cxnLst/>
              <a:rect r="r" b="b" t="t" l="l"/>
              <a:pathLst>
                <a:path h="6324600" w="5461000">
                  <a:moveTo>
                    <a:pt x="228600" y="0"/>
                  </a:moveTo>
                  <a:lnTo>
                    <a:pt x="5232400" y="0"/>
                  </a:lnTo>
                  <a:cubicBezTo>
                    <a:pt x="5358652" y="0"/>
                    <a:pt x="5461000" y="102348"/>
                    <a:pt x="5461000" y="228600"/>
                  </a:cubicBezTo>
                  <a:lnTo>
                    <a:pt x="5461000" y="6096000"/>
                  </a:lnTo>
                  <a:cubicBezTo>
                    <a:pt x="5461000" y="6222252"/>
                    <a:pt x="5358652" y="6324600"/>
                    <a:pt x="5232400" y="6324600"/>
                  </a:cubicBezTo>
                  <a:lnTo>
                    <a:pt x="228600" y="6324600"/>
                  </a:lnTo>
                  <a:cubicBezTo>
                    <a:pt x="102348" y="6324600"/>
                    <a:pt x="0" y="6222252"/>
                    <a:pt x="0" y="60960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EF6F7"/>
            </a:solid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-38100"/>
              <a:ext cx="5461000" cy="6362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3144500" y="2381250"/>
            <a:ext cx="4095750" cy="114300"/>
            <a:chOff x="0" y="0"/>
            <a:chExt cx="5461000" cy="152400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5461000" cy="152400"/>
            </a:xfrm>
            <a:custGeom>
              <a:avLst/>
              <a:gdLst/>
              <a:ahLst/>
              <a:cxnLst/>
              <a:rect r="r" b="b" t="t" l="l"/>
              <a:pathLst>
                <a:path h="152400" w="5461000">
                  <a:moveTo>
                    <a:pt x="76200" y="0"/>
                  </a:moveTo>
                  <a:lnTo>
                    <a:pt x="5384800" y="0"/>
                  </a:lnTo>
                  <a:cubicBezTo>
                    <a:pt x="5426884" y="0"/>
                    <a:pt x="5461000" y="34116"/>
                    <a:pt x="5461000" y="76200"/>
                  </a:cubicBezTo>
                  <a:lnTo>
                    <a:pt x="5461000" y="76200"/>
                  </a:lnTo>
                  <a:cubicBezTo>
                    <a:pt x="5461000" y="118284"/>
                    <a:pt x="5426884" y="152400"/>
                    <a:pt x="5384800" y="152400"/>
                  </a:cubicBezTo>
                  <a:lnTo>
                    <a:pt x="76200" y="152400"/>
                  </a:lnTo>
                  <a:cubicBezTo>
                    <a:pt x="34116" y="152400"/>
                    <a:pt x="0" y="118284"/>
                    <a:pt x="0" y="762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38100"/>
              <a:ext cx="54610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4" id="114"/>
          <p:cNvSpPr txBox="true"/>
          <p:nvPr/>
        </p:nvSpPr>
        <p:spPr>
          <a:xfrm rot="0">
            <a:off x="13477875" y="2752725"/>
            <a:ext cx="2857500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</a:pPr>
            <a:r>
              <a:rPr lang="en-US" sz="17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HALLAZGO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13401675" y="2924175"/>
            <a:ext cx="1333500" cy="1335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919"/>
              </a:lnSpc>
            </a:pPr>
            <a:r>
              <a:rPr lang="en-US" sz="7800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D</a:t>
            </a:r>
          </a:p>
        </p:txBody>
      </p:sp>
      <p:sp>
        <p:nvSpPr>
          <p:cNvPr name="TextBox 116" id="116"/>
          <p:cNvSpPr txBox="true"/>
          <p:nvPr/>
        </p:nvSpPr>
        <p:spPr>
          <a:xfrm rot="0">
            <a:off x="13477875" y="4114800"/>
            <a:ext cx="3333750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lidera con el 56,2%</a:t>
            </a:r>
          </a:p>
        </p:txBody>
      </p:sp>
      <p:grpSp>
        <p:nvGrpSpPr>
          <p:cNvPr name="Group 117" id="117"/>
          <p:cNvGrpSpPr/>
          <p:nvPr/>
        </p:nvGrpSpPr>
        <p:grpSpPr>
          <a:xfrm rot="0">
            <a:off x="13477875" y="5095875"/>
            <a:ext cx="3429000" cy="19050"/>
            <a:chOff x="0" y="0"/>
            <a:chExt cx="4572000" cy="25400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4572000" cy="25400"/>
            </a:xfrm>
            <a:custGeom>
              <a:avLst/>
              <a:gdLst/>
              <a:ahLst/>
              <a:cxnLst/>
              <a:rect r="r" b="b" t="t" l="l"/>
              <a:pathLst>
                <a:path h="2540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B8D8DC"/>
            </a:solid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38100"/>
              <a:ext cx="4572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0" id="120"/>
          <p:cNvSpPr txBox="true"/>
          <p:nvPr/>
        </p:nvSpPr>
        <p:spPr>
          <a:xfrm rot="0">
            <a:off x="13477875" y="5334000"/>
            <a:ext cx="3429000" cy="1589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La frecuencia empírica converge con la probabilidad teórica calculada.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7750" y="581025"/>
            <a:ext cx="38100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CONCLUSIONES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47750" y="828675"/>
            <a:ext cx="1619250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8. Conclusiones y Aplicaciones Futuras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47750" y="2667000"/>
            <a:ext cx="16192500" cy="1524000"/>
            <a:chOff x="0" y="0"/>
            <a:chExt cx="21590000" cy="2032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590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21590000">
                  <a:moveTo>
                    <a:pt x="203200" y="0"/>
                  </a:moveTo>
                  <a:lnTo>
                    <a:pt x="21386800" y="0"/>
                  </a:lnTo>
                  <a:cubicBezTo>
                    <a:pt x="21499024" y="0"/>
                    <a:pt x="21590000" y="90976"/>
                    <a:pt x="21590000" y="203200"/>
                  </a:cubicBezTo>
                  <a:lnTo>
                    <a:pt x="21590000" y="1828800"/>
                  </a:lnTo>
                  <a:cubicBezTo>
                    <a:pt x="21590000" y="1941024"/>
                    <a:pt x="21499024" y="2032000"/>
                    <a:pt x="21386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15900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524000" y="3000375"/>
            <a:ext cx="9525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857500" y="2971800"/>
            <a:ext cx="4762500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De la fuerza bruta a la utilidad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857500" y="3457575"/>
            <a:ext cx="1238250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Transición del consumo por fuerza bruta (PoW) a la utilidad tangible (PoWeight).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047750" y="4619625"/>
            <a:ext cx="16192500" cy="1524000"/>
            <a:chOff x="0" y="0"/>
            <a:chExt cx="21590000" cy="203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590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21590000">
                  <a:moveTo>
                    <a:pt x="203200" y="0"/>
                  </a:moveTo>
                  <a:lnTo>
                    <a:pt x="21386800" y="0"/>
                  </a:lnTo>
                  <a:cubicBezTo>
                    <a:pt x="21499024" y="0"/>
                    <a:pt x="21590000" y="90976"/>
                    <a:pt x="21590000" y="203200"/>
                  </a:cubicBezTo>
                  <a:lnTo>
                    <a:pt x="21590000" y="1828800"/>
                  </a:lnTo>
                  <a:cubicBezTo>
                    <a:pt x="21590000" y="1941024"/>
                    <a:pt x="21499024" y="2032000"/>
                    <a:pt x="21386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15900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524000" y="4953000"/>
            <a:ext cx="9525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857500" y="4924425"/>
            <a:ext cx="4762500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Nuevos ecosistemas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857500" y="5410200"/>
            <a:ext cx="1238250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Gran potencial en ecosistemas de IoT y almacenamiento descentralizado.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047750" y="6572250"/>
            <a:ext cx="16192500" cy="1524000"/>
            <a:chOff x="0" y="0"/>
            <a:chExt cx="21590000" cy="2032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590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21590000">
                  <a:moveTo>
                    <a:pt x="203200" y="0"/>
                  </a:moveTo>
                  <a:lnTo>
                    <a:pt x="21386800" y="0"/>
                  </a:lnTo>
                  <a:cubicBezTo>
                    <a:pt x="21499024" y="0"/>
                    <a:pt x="21590000" y="90976"/>
                    <a:pt x="21590000" y="203200"/>
                  </a:cubicBezTo>
                  <a:lnTo>
                    <a:pt x="21590000" y="1828800"/>
                  </a:lnTo>
                  <a:cubicBezTo>
                    <a:pt x="21590000" y="1941024"/>
                    <a:pt x="21499024" y="2032000"/>
                    <a:pt x="21386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5E8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215900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524000" y="6905625"/>
            <a:ext cx="9525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169DB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857500" y="6877050"/>
            <a:ext cx="4762500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Reto de diseño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857500" y="7362825"/>
            <a:ext cx="1238250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5F7480"/>
                </a:solidFill>
                <a:latin typeface="Source Sans 3"/>
                <a:ea typeface="Source Sans 3"/>
                <a:cs typeface="Source Sans 3"/>
                <a:sym typeface="Source Sans 3"/>
              </a:rPr>
              <a:t>Diseñar métricas de peso seguras y resistentes a la centralización.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47750" y="9610725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POWEIGHT  /  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381250" y="3717607"/>
            <a:ext cx="14106642" cy="1127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6600" b="true">
                <a:solidFill>
                  <a:srgbClr val="102738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¡Muchas gracias por vuestra atención!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47750" y="1762125"/>
            <a:ext cx="1333500" cy="66675"/>
            <a:chOff x="0" y="0"/>
            <a:chExt cx="1778000" cy="88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78000" cy="88900"/>
            </a:xfrm>
            <a:custGeom>
              <a:avLst/>
              <a:gdLst/>
              <a:ahLst/>
              <a:cxnLst/>
              <a:rect r="r" b="b" t="t" l="l"/>
              <a:pathLst>
                <a:path h="88900" w="1778000">
                  <a:moveTo>
                    <a:pt x="44450" y="0"/>
                  </a:moveTo>
                  <a:lnTo>
                    <a:pt x="1733550" y="0"/>
                  </a:lnTo>
                  <a:cubicBezTo>
                    <a:pt x="1758099" y="0"/>
                    <a:pt x="1778000" y="19901"/>
                    <a:pt x="1778000" y="44450"/>
                  </a:cubicBezTo>
                  <a:lnTo>
                    <a:pt x="1778000" y="44450"/>
                  </a:lnTo>
                  <a:cubicBezTo>
                    <a:pt x="1778000" y="68999"/>
                    <a:pt x="1758099" y="88900"/>
                    <a:pt x="1733550" y="88900"/>
                  </a:cubicBezTo>
                  <a:lnTo>
                    <a:pt x="44450" y="88900"/>
                  </a:lnTo>
                  <a:cubicBezTo>
                    <a:pt x="19901" y="88900"/>
                    <a:pt x="0" y="68999"/>
                    <a:pt x="0" y="44450"/>
                  </a:cubicBezTo>
                  <a:lnTo>
                    <a:pt x="0" y="44450"/>
                  </a:lnTo>
                  <a:cubicBezTo>
                    <a:pt x="0" y="19901"/>
                    <a:pt x="19901" y="0"/>
                    <a:pt x="44450" y="0"/>
                  </a:cubicBezTo>
                  <a:close/>
                </a:path>
              </a:pathLst>
            </a:custGeom>
            <a:solidFill>
              <a:srgbClr val="169DB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778000" cy="127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47750" y="6858000"/>
            <a:ext cx="16192500" cy="19050"/>
            <a:chOff x="0" y="0"/>
            <a:chExt cx="21590000" cy="25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590000" cy="25400"/>
            </a:xfrm>
            <a:custGeom>
              <a:avLst/>
              <a:gdLst/>
              <a:ahLst/>
              <a:cxnLst/>
              <a:rect r="r" b="b" t="t" l="l"/>
              <a:pathLst>
                <a:path h="25400" w="21590000">
                  <a:moveTo>
                    <a:pt x="0" y="0"/>
                  </a:moveTo>
                  <a:lnTo>
                    <a:pt x="21590000" y="0"/>
                  </a:lnTo>
                  <a:lnTo>
                    <a:pt x="21590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D9E5E8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1590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312907" y="8023607"/>
            <a:ext cx="3276190" cy="895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Arribí Lamas, Moisés</a:t>
            </a:r>
          </a:p>
          <a:p>
            <a:pPr algn="l">
              <a:lnSpc>
                <a:spcPts val="3640"/>
              </a:lnSpc>
            </a:pPr>
            <a:r>
              <a:rPr lang="en-US" sz="26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Martínez López, Miguel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461645" y="8252207"/>
            <a:ext cx="3797655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>
                <a:solidFill>
                  <a:srgbClr val="102738"/>
                </a:solidFill>
                <a:latin typeface="Source Sans 3"/>
                <a:ea typeface="Source Sans 3"/>
                <a:cs typeface="Source Sans 3"/>
                <a:sym typeface="Source Sans 3"/>
              </a:rPr>
              <a:t>A Coruña, 19 de Octubre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750" y="9610725"/>
            <a:ext cx="285750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true">
                <a:solidFill>
                  <a:srgbClr val="5F7480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POWEIGHT  /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DAHYG5Qp7Vk</dc:identifier>
  <dcterms:modified xsi:type="dcterms:W3CDTF">2011-08-01T06:04:30Z</dcterms:modified>
  <cp:revision>1</cp:revision>
  <dc:title>Protocolo PoWeight</dc:title>
</cp:coreProperties>
</file>